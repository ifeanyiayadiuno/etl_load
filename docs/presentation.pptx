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F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377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82BC3F"/>
                </a:solidFill>
                <a:latin typeface="Calibri"/>
              </a:rPr>
              <a:t>PACIFIC CANBRIAM ENERGY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8892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  <a:latin typeface="Calibri"/>
              </a:rPr>
              <a:t>Production Update 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4069080"/>
            <a:ext cx="640080" cy="254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251960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  <a:latin typeface="Calibri"/>
              </a:rPr>
              <a:t>A centralized data platform for daily and monthly production.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6263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82BC3F"/>
                </a:solidFill>
                <a:latin typeface="Calibri"/>
              </a:rPr>
              <a:t>PACIFIC CANBRIAM ENERGY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626364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  <a:latin typeface="Calibri"/>
              </a:rPr>
              <a:t>Engineering Overview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THE PROBLEM WE WERE SOLVING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Everything lived in Excel.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274320"/>
            <a:ext cx="12801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 i="0">
                <a:solidFill>
                  <a:srgbClr val="82BC3F"/>
                </a:solidFill>
                <a:latin typeface="Calibri"/>
              </a:rPr>
              <a:t>02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9224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Production Update System  ·  Pacific Canbriam Energy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087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1">
                <a:solidFill>
                  <a:srgbClr val="3577B5"/>
                </a:solidFill>
                <a:latin typeface="Calibri"/>
              </a:rPr>
              <a:t>No central database. Every task was its own workbook.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49631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2331720"/>
            <a:ext cx="65105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Manual copy-paste between Snowflake, ValNav, Accumap, and spreadsheets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5351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788920"/>
            <a:ext cx="65105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Allocation factors and sales ratios derived by hand — easy to break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41071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" y="3246120"/>
            <a:ext cx="65105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Re-running a month was risky; results varied between engineers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86791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703320"/>
            <a:ext cx="65105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Onboarding meant “learn the spreadsheets,” not “learn the data”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32511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4672" y="4160520"/>
            <a:ext cx="65105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 i="0">
                <a:solidFill>
                  <a:srgbClr val="1F2937"/>
                </a:solidFill>
                <a:latin typeface="Calibri"/>
              </a:rPr>
              <a:t>No reliable way to audit how a number was produced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80960" y="2194560"/>
            <a:ext cx="4023360" cy="384048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80960" y="2194560"/>
            <a:ext cx="164592" cy="384048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80" y="246888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Common failure modes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83880" y="322783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39912" y="3063240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Two engineers editing copies of the same workbook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83880" y="368503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39912" y="3520440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Mis-pasted columns silently changing totals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83880" y="414223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39912" y="3977640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Lost public-sales data when re-doing PA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83880" y="459943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39912" y="4434840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Different answers for the same month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WHAT WE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Two deliverables, designed together.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274320"/>
            <a:ext cx="12801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 i="0">
                <a:solidFill>
                  <a:srgbClr val="82BC3F"/>
                </a:solidFill>
                <a:latin typeface="Calibri"/>
              </a:rPr>
              <a:t>03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9224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Production Update System  ·  Pacific Canbriam Energy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1508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6B7280"/>
                </a:solidFill>
                <a:latin typeface="Calibri"/>
              </a:rPr>
              <a:t>A new SQL Server data model — and the application that keeps it current.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94560"/>
            <a:ext cx="5303520" cy="402336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194560"/>
            <a:ext cx="164592" cy="4023360"/>
          </a:xfrm>
          <a:prstGeom prst="rect">
            <a:avLst/>
          </a:prstGeom>
          <a:solidFill>
            <a:srgbClr val="357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4688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A2C5C"/>
                </a:solidFill>
                <a:latin typeface="Calibri"/>
              </a:rPr>
              <a:t>SQL Server data 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" y="3227832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07592" y="3063240"/>
            <a:ext cx="4270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PCE_WM — Well Master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3685032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07592" y="3520440"/>
            <a:ext cx="4270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PCE_CDA — daily allocation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4142232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07592" y="3977640"/>
            <a:ext cx="4270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PCE_Production — daily production with sequences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51560" y="4599432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07592" y="4434840"/>
            <a:ext cx="4270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Allocation_Factors — PA &amp; Public Sales factors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51560" y="5056632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07592" y="4892040"/>
            <a:ext cx="4270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PCE_Surveys, PCE_TC — surveys and type curves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989320" y="3840480"/>
            <a:ext cx="365760" cy="548640"/>
          </a:xfrm>
          <a:prstGeom prst="rightArrow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46520" y="2194560"/>
            <a:ext cx="5303520" cy="4023360"/>
          </a:xfrm>
          <a:prstGeom prst="rect">
            <a:avLst/>
          </a:prstGeom>
          <a:solidFill>
            <a:srgbClr val="EFF6E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46520" y="2194560"/>
            <a:ext cx="164592" cy="402336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0" y="24688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1" i="0">
                <a:solidFill>
                  <a:srgbClr val="1A2C5C"/>
                </a:solidFill>
                <a:latin typeface="Calibri"/>
              </a:rPr>
              <a:t>PyQt5 desktop application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49440" y="322783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05472" y="3063240"/>
            <a:ext cx="4270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One window, one operation per task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949440" y="368503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05472" y="3520440"/>
            <a:ext cx="4270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Loads from Snowflake, ValNav, Accumap, Excel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0" y="414223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05472" y="3977640"/>
            <a:ext cx="4270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Writes back to the SQL tables — logged &amp; repeatable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949440" y="459943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205472" y="4434840"/>
            <a:ext cx="427024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Background workers; cancel &amp; summary on every run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ARCHITECTURE AT A GLANCE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How data flows.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274320"/>
            <a:ext cx="12801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 i="0">
                <a:solidFill>
                  <a:srgbClr val="82BC3F"/>
                </a:solidFill>
                <a:latin typeface="Calibri"/>
              </a:rPr>
              <a:t>04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9224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Production Update System  ·  Pacific Canbriam Energy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2560320" cy="96012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828800"/>
            <a:ext cx="109728" cy="960120"/>
          </a:xfrm>
          <a:prstGeom prst="rect">
            <a:avLst/>
          </a:prstGeom>
          <a:solidFill>
            <a:srgbClr val="357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99339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2C5C"/>
                </a:solidFill>
                <a:latin typeface="Calibri"/>
              </a:rPr>
              <a:t>Snowflake / Prodview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33172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Daily wellhead, gathered, pressures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71800"/>
            <a:ext cx="2560320" cy="96012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971800"/>
            <a:ext cx="109728" cy="960120"/>
          </a:xfrm>
          <a:prstGeom prst="rect">
            <a:avLst/>
          </a:prstGeom>
          <a:solidFill>
            <a:srgbClr val="357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13639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2C5C"/>
                </a:solidFill>
                <a:latin typeface="Calibri"/>
              </a:rPr>
              <a:t>ValNav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47472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Monthly S2 / condensate factors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114800"/>
            <a:ext cx="2560320" cy="96012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114800"/>
            <a:ext cx="109728" cy="960120"/>
          </a:xfrm>
          <a:prstGeom prst="rect">
            <a:avLst/>
          </a:prstGeom>
          <a:solidFill>
            <a:srgbClr val="357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27939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2C5C"/>
                </a:solidFill>
                <a:latin typeface="Calibri"/>
              </a:rPr>
              <a:t>Accumap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61772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Monthly public sales gas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257800"/>
            <a:ext cx="2560320" cy="96012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5257800"/>
            <a:ext cx="109728" cy="960120"/>
          </a:xfrm>
          <a:prstGeom prst="rect">
            <a:avLst/>
          </a:prstGeom>
          <a:solidFill>
            <a:srgbClr val="357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42239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A2C5C"/>
                </a:solidFill>
                <a:latin typeface="Calibri"/>
              </a:rPr>
              <a:t>Excel imports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76072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Surveys &amp; type curves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3200400" y="3337560"/>
            <a:ext cx="822960" cy="777240"/>
          </a:xfrm>
          <a:prstGeom prst="rightArrow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60520" y="2834640"/>
            <a:ext cx="2194560" cy="18288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60520" y="2834640"/>
            <a:ext cx="2194560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60520" y="301752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82BC3F"/>
                </a:solidFill>
                <a:latin typeface="Calibri"/>
              </a:rPr>
              <a:t>PRODUCTION UPDATE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60520" y="352044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82BC3F"/>
                </a:solidFill>
                <a:latin typeface="Calibri"/>
              </a:rPr>
              <a:t>APPLICATION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160520" y="4069080"/>
            <a:ext cx="2194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PyQt5 · ETL · audit log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6446520" y="3337560"/>
            <a:ext cx="822960" cy="777240"/>
          </a:xfrm>
          <a:prstGeom prst="rightArrow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406640" y="1828800"/>
            <a:ext cx="4236415" cy="429768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06640" y="1828800"/>
            <a:ext cx="164592" cy="429768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09560" y="2103120"/>
            <a:ext cx="355061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2C5C"/>
                </a:solidFill>
                <a:latin typeface="Calibri"/>
              </a:rPr>
              <a:t>SQL Server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09560" y="28620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65592" y="2697480"/>
            <a:ext cx="320314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PCE_WM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09560" y="33192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65592" y="3154680"/>
            <a:ext cx="320314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PCE_CDA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909560" y="37764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65592" y="3611880"/>
            <a:ext cx="320314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PCE_Production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09560" y="42336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65592" y="4069080"/>
            <a:ext cx="320314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Allocation_Factors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909560" y="46908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65592" y="4526280"/>
            <a:ext cx="320314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PCE_Surveys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09560" y="51480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165592" y="4983480"/>
            <a:ext cx="3203143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 i="0">
                <a:solidFill>
                  <a:srgbClr val="1F2937"/>
                </a:solidFill>
                <a:latin typeface="Calibri"/>
              </a:rPr>
              <a:t>PCE_TC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WHAT THE APPLICATION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Eight operations, one window.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274320"/>
            <a:ext cx="12801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 i="0">
                <a:solidFill>
                  <a:srgbClr val="82BC3F"/>
                </a:solidFill>
                <a:latin typeface="Calibri"/>
              </a:rPr>
              <a:t>05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9224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Production Update System  ·  Pacific Canbriam Energy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2636443" cy="219456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691640"/>
            <a:ext cx="2636443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965960"/>
            <a:ext cx="20878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Well Master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468880"/>
            <a:ext cx="2087803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Maintain PCE_WM; import new wells from Snowflake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67963" y="1691640"/>
            <a:ext cx="2636443" cy="219456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7963" y="1691640"/>
            <a:ext cx="2636443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42283" y="1965960"/>
            <a:ext cx="20878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Prodview / Snowflake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42283" y="2468880"/>
            <a:ext cx="2087803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Daily production retrieve into CDA &amp; Production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87287" y="1691640"/>
            <a:ext cx="2636443" cy="219456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7287" y="1691640"/>
            <a:ext cx="2636443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1607" y="1965960"/>
            <a:ext cx="20878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PA Allocations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1607" y="2468880"/>
            <a:ext cx="2087803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Monthly ValNav factors → Allocation_Factors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6611" y="1691640"/>
            <a:ext cx="2636443" cy="219456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006611" y="1691640"/>
            <a:ext cx="2636443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80931" y="1965960"/>
            <a:ext cx="20878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Public Sales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80931" y="2468880"/>
            <a:ext cx="2087803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Accumap sales gas + sales ratios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069080"/>
            <a:ext cx="2636443" cy="219456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069080"/>
            <a:ext cx="2636443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343400"/>
            <a:ext cx="20878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Survey Import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4846320"/>
            <a:ext cx="2087803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Directional / log surveys into PCE_Surveys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67963" y="4069080"/>
            <a:ext cx="2636443" cy="219456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367963" y="4069080"/>
            <a:ext cx="2636443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42283" y="4343400"/>
            <a:ext cx="20878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Type Curves Import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42283" y="4846320"/>
            <a:ext cx="2087803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Excel type curves → PCE_TC → Production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87287" y="4069080"/>
            <a:ext cx="2636443" cy="2194560"/>
          </a:xfrm>
          <a:prstGeom prst="rect">
            <a:avLst/>
          </a:prstGeom>
          <a:solidFill>
            <a:srgbClr val="F1F2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87287" y="4069080"/>
            <a:ext cx="2636443" cy="381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61607" y="4343400"/>
            <a:ext cx="20878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6B7280"/>
                </a:solidFill>
                <a:latin typeface="Calibri"/>
              </a:rPr>
              <a:t>Whitson+ Mass Upload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61607" y="4846320"/>
            <a:ext cx="2087803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Placeholder for next phase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06611" y="4069080"/>
            <a:ext cx="2636443" cy="2194560"/>
          </a:xfrm>
          <a:prstGeom prst="rect">
            <a:avLst/>
          </a:prstGeom>
          <a:solidFill>
            <a:srgbClr val="F1F2F4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006611" y="4069080"/>
            <a:ext cx="2636443" cy="38100"/>
          </a:xfrm>
          <a:prstGeom prst="rect">
            <a:avLst/>
          </a:prstGeom>
          <a:solidFill>
            <a:srgbClr val="6B72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280931" y="4343400"/>
            <a:ext cx="208780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6B7280"/>
                </a:solidFill>
                <a:latin typeface="Calibri"/>
              </a:rPr>
              <a:t>Exports / Reports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80931" y="4846320"/>
            <a:ext cx="2087803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6B7280"/>
                </a:solidFill>
                <a:latin typeface="Calibri"/>
              </a:rPr>
              <a:t>Placeholder for next phase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SNOWFLAKE → CDA + PRODUCTION REBUILD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Daily flow: Prodview / Snowflake.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274320"/>
            <a:ext cx="12801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 i="0">
                <a:solidFill>
                  <a:srgbClr val="82BC3F"/>
                </a:solidFill>
                <a:latin typeface="Calibri"/>
              </a:rPr>
              <a:t>06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9224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Production Update System  ·  Pacific Canbriam Energy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2287" y="2194560"/>
            <a:ext cx="2103120" cy="237744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2287" y="2194560"/>
            <a:ext cx="2103120" cy="50292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5167" y="2249424"/>
            <a:ext cx="1737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STEP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167" y="2880360"/>
            <a:ext cx="1737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Pick window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167" y="3520440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Auto: rolling 18 months, ends today − 2 days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58287" y="2194560"/>
            <a:ext cx="2103120" cy="237744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58287" y="2194560"/>
            <a:ext cx="2103120" cy="50292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941167" y="2249424"/>
            <a:ext cx="1737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STEP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41167" y="2880360"/>
            <a:ext cx="1737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Pull Snowflake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1167" y="3520440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ECF, Gas WH, CGR / water, WGR, pressures, allocation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44287" y="2194560"/>
            <a:ext cx="2103120" cy="237744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44287" y="2194560"/>
            <a:ext cx="2103120" cy="50292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27167" y="2249424"/>
            <a:ext cx="1737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STEP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27167" y="2880360"/>
            <a:ext cx="1737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Refresh CDA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27167" y="3520440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Replace matching PCE_CDA rows for the window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30287" y="2194560"/>
            <a:ext cx="2103120" cy="237744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30287" y="2194560"/>
            <a:ext cx="2103120" cy="50292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13167" y="2249424"/>
            <a:ext cx="1737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STEP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3167" y="2880360"/>
            <a:ext cx="1737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Rebuild Production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13167" y="3520440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Sequences, cumulatives, monthly averages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616287" y="2194560"/>
            <a:ext cx="2103120" cy="237744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616287" y="2194560"/>
            <a:ext cx="2103120" cy="50292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99167" y="2249424"/>
            <a:ext cx="1737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STEP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799167" y="2880360"/>
            <a:ext cx="17373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Sync type curves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99167" y="3520440"/>
            <a:ext cx="1737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PCE_TC materialized into PCE_Production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07492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0" i="1">
                <a:solidFill>
                  <a:srgbClr val="3577B5"/>
                </a:solidFill>
                <a:latin typeface="Calibri"/>
              </a:rPr>
              <a:t>One click. One log. One summary line with row counts and elapsed time.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557784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0">
                <a:solidFill>
                  <a:srgbClr val="6B7280"/>
                </a:solidFill>
                <a:latin typeface="Calibri"/>
              </a:rPr>
              <a:t>Exception wells skipped automatically · type-curve &amp; YE2 rows protected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VALNAV AND ACCUMAP, THE RIGHT WAY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Monthly flow: PA + Public Sales.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274320"/>
            <a:ext cx="12801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 i="0">
                <a:solidFill>
                  <a:srgbClr val="82BC3F"/>
                </a:solidFill>
                <a:latin typeface="Calibri"/>
              </a:rPr>
              <a:t>07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9224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Production Update System  ·  Pacific Canbriam Energy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9933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28800"/>
            <a:ext cx="669340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1F2937"/>
                </a:solidFill>
                <a:latin typeface="Calibri"/>
              </a:rPr>
              <a:t>PA Allocations (ValNav)</a:t>
            </a:r>
            <a:r>
              <a:rPr sz="1600" b="0" i="0">
                <a:solidFill>
                  <a:srgbClr val="1F2937"/>
                </a:solidFill>
                <a:latin typeface="Calibri"/>
              </a:rPr>
              <a:t> — Writes monthly factors to Allocation_Factors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4505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2286000"/>
            <a:ext cx="669340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1F2937"/>
                </a:solidFill>
                <a:latin typeface="Calibri"/>
              </a:rPr>
              <a:t>Public Sales (Accumap)</a:t>
            </a:r>
            <a:r>
              <a:rPr sz="1600" b="0" i="0">
                <a:solidFill>
                  <a:srgbClr val="1F2937"/>
                </a:solidFill>
                <a:latin typeface="Calibri"/>
              </a:rPr>
              <a:t> — Merges sales gas; recomputes sales CGR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077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43200"/>
            <a:ext cx="669340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1F2937"/>
                </a:solidFill>
                <a:latin typeface="Calibri"/>
              </a:rPr>
              <a:t>Auto-propagation</a:t>
            </a:r>
            <a:r>
              <a:rPr sz="1600" b="0" i="0">
                <a:solidFill>
                  <a:srgbClr val="1F2937"/>
                </a:solidFill>
                <a:latin typeface="Calibri"/>
              </a:rPr>
              <a:t> — Allocation changes flow to PCE_CDA and PCE_Production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3649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200400"/>
            <a:ext cx="669340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1F2937"/>
                </a:solidFill>
                <a:latin typeface="Calibri"/>
              </a:rPr>
              <a:t>Sales_Gas preserved</a:t>
            </a:r>
            <a:r>
              <a:rPr sz="1600" b="0" i="0">
                <a:solidFill>
                  <a:srgbClr val="1F2937"/>
                </a:solidFill>
                <a:latin typeface="Calibri"/>
              </a:rPr>
              <a:t> — Re-running PA does not erase Public Sales data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221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657600"/>
            <a:ext cx="669340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1F2937"/>
                </a:solidFill>
                <a:latin typeface="Calibri"/>
              </a:rPr>
              <a:t>Idempotent month</a:t>
            </a:r>
            <a:r>
              <a:rPr sz="1600" b="0" i="0">
                <a:solidFill>
                  <a:srgbClr val="1F2937"/>
                </a:solidFill>
                <a:latin typeface="Calibri"/>
              </a:rPr>
              <a:t> — Existing month is deleted and rebuilt consistently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680960" y="1828800"/>
            <a:ext cx="4023360" cy="4206240"/>
          </a:xfrm>
          <a:prstGeom prst="rect">
            <a:avLst/>
          </a:prstGeom>
          <a:solidFill>
            <a:srgbClr val="EFF6E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680960" y="1828800"/>
            <a:ext cx="164592" cy="420624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83880" y="210312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The old foot-gun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83880" y="28620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39912" y="2697480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Doing PA after Public Sales used to wipe Sales_Gas to zero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83880" y="33192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39912" y="3154680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Engineers had to restore Accumap data by hand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83880" y="37764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39912" y="3611880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Now: PA reads existing Sales_Gas first, then writes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83880" y="42336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39912" y="4069080"/>
            <a:ext cx="299008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Public Sales data survives PA reloads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SUPPORTING FLOWS — NOW ROUTINE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Well Master, Surveys, Type Curves.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274320"/>
            <a:ext cx="12801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 i="0">
                <a:solidFill>
                  <a:srgbClr val="82BC3F"/>
                </a:solidFill>
                <a:latin typeface="Calibri"/>
              </a:rPr>
              <a:t>08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9224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Production Update System  ·  Pacific Canbriam Energy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828800"/>
            <a:ext cx="3657600" cy="420624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1828800"/>
            <a:ext cx="164592" cy="420624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103120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2C5C"/>
                </a:solidFill>
                <a:latin typeface="Calibri"/>
              </a:rPr>
              <a:t>Well Master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51560" y="28620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07592" y="2697480"/>
            <a:ext cx="2624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Snowflake-driven new well preview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51560" y="33192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07592" y="3154680"/>
            <a:ext cx="2624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Safe edits with composite-name handling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51560" y="37764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07592" y="3611880"/>
            <a:ext cx="2624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Honored everywhere — exception flag respected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1828800"/>
            <a:ext cx="3657600" cy="420624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434840" y="1828800"/>
            <a:ext cx="164592" cy="4206240"/>
          </a:xfrm>
          <a:prstGeom prst="rect">
            <a:avLst/>
          </a:prstGeom>
          <a:solidFill>
            <a:srgbClr val="357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37760" y="2103120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2C5C"/>
                </a:solidFill>
                <a:latin typeface="Calibri"/>
              </a:rPr>
              <a:t>Surveys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0" y="2862072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93792" y="2697480"/>
            <a:ext cx="2624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Bulk and mapped Excel layouts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37760" y="3319272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93792" y="3154680"/>
            <a:ext cx="2624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Append vs overwrite behavior is explicit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937760" y="3776472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193792" y="3611880"/>
            <a:ext cx="2624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Unmatched UWIs reported as a CSV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321040" y="1828800"/>
            <a:ext cx="3383280" cy="4206240"/>
          </a:xfrm>
          <a:prstGeom prst="rect">
            <a:avLst/>
          </a:prstGeom>
          <a:solidFill>
            <a:srgbClr val="EFF6E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321040" y="1828800"/>
            <a:ext cx="164592" cy="420624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823960" y="210312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1A2C5C"/>
                </a:solidFill>
                <a:latin typeface="Calibri"/>
              </a:rPr>
              <a:t>Type Curves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823960" y="28620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79992" y="2697480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Excel → PCE_TC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23960" y="33192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79992" y="3154680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Synced into PCE_Production at ImportDate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23960" y="377647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79992" y="3611880"/>
            <a:ext cx="235000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Protected on every rebuild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BEFORE VS AFTER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How this saves engineers time.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274320"/>
            <a:ext cx="12801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 i="0">
                <a:solidFill>
                  <a:srgbClr val="82BC3F"/>
                </a:solidFill>
                <a:latin typeface="Calibri"/>
              </a:rPr>
              <a:t>09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9224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Production Update System  ·  Pacific Canbriam Energy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91640"/>
            <a:ext cx="3698138" cy="50292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691640"/>
            <a:ext cx="336895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Task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46778" y="1691640"/>
            <a:ext cx="3698138" cy="50292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11370" y="1691640"/>
            <a:ext cx="336895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Before — Excel only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44916" y="1691640"/>
            <a:ext cx="3698139" cy="50292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09508" y="1691640"/>
            <a:ext cx="336895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After — App + SQL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2194560"/>
            <a:ext cx="3698138" cy="6019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2194560"/>
            <a:ext cx="3368954" cy="6019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Daily Snowflake → CDA → Production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46778" y="2194560"/>
            <a:ext cx="3698138" cy="6019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11370" y="2194560"/>
            <a:ext cx="3368954" cy="6019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Half-day spreadsheet round-trip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44916" y="2194560"/>
            <a:ext cx="3698139" cy="6019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09508" y="2194560"/>
            <a:ext cx="3368955" cy="6019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One dialog, hands-off, logged summary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2796540"/>
            <a:ext cx="3698138" cy="601980"/>
          </a:xfrm>
          <a:prstGeom prst="rect">
            <a:avLst/>
          </a:prstGeom>
          <a:solidFill>
            <a:srgbClr val="EF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" y="2796540"/>
            <a:ext cx="3368954" cy="6019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Monthly PA (ValNav)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46778" y="2796540"/>
            <a:ext cx="3698138" cy="601980"/>
          </a:xfrm>
          <a:prstGeom prst="rect">
            <a:avLst/>
          </a:prstGeom>
          <a:solidFill>
            <a:srgbClr val="EF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11370" y="2796540"/>
            <a:ext cx="3368954" cy="6019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Manual factor calc + manual propagation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44916" y="2796540"/>
            <a:ext cx="3698139" cy="601980"/>
          </a:xfrm>
          <a:prstGeom prst="rect">
            <a:avLst/>
          </a:prstGeom>
          <a:solidFill>
            <a:srgbClr val="EF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09508" y="2796540"/>
            <a:ext cx="3368955" cy="6019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One dialog; CDA / Production update automatically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398520"/>
            <a:ext cx="3698138" cy="6019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3232" y="3398520"/>
            <a:ext cx="3368954" cy="6019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Public Sales (Accumap)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46778" y="3398520"/>
            <a:ext cx="3698138" cy="6019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11370" y="3398520"/>
            <a:ext cx="3368954" cy="6019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Manual UWI matching; risk of erasing PA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44916" y="3398520"/>
            <a:ext cx="3698139" cy="6019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109508" y="3398520"/>
            <a:ext cx="3368955" cy="6019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One dialog; unmatched UWIs reported; PA preserved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000500"/>
            <a:ext cx="3698138" cy="601980"/>
          </a:xfrm>
          <a:prstGeom prst="rect">
            <a:avLst/>
          </a:prstGeom>
          <a:solidFill>
            <a:srgbClr val="EF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4000500"/>
            <a:ext cx="3368954" cy="6019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New well onboarding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46778" y="4000500"/>
            <a:ext cx="3698138" cy="601980"/>
          </a:xfrm>
          <a:prstGeom prst="rect">
            <a:avLst/>
          </a:prstGeom>
          <a:solidFill>
            <a:srgbClr val="EF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11370" y="4000500"/>
            <a:ext cx="3368954" cy="6019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Update multiple workbooks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44916" y="4000500"/>
            <a:ext cx="3698139" cy="601980"/>
          </a:xfrm>
          <a:prstGeom prst="rect">
            <a:avLst/>
          </a:prstGeom>
          <a:solidFill>
            <a:srgbClr val="EF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109508" y="4000500"/>
            <a:ext cx="3368955" cy="6019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Add in Well Master, run Prodview when ready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602480"/>
            <a:ext cx="3698138" cy="6019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13232" y="4602480"/>
            <a:ext cx="3368954" cy="6019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Survey / Type Curve imports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46778" y="4602480"/>
            <a:ext cx="3698138" cy="6019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11370" y="4602480"/>
            <a:ext cx="3368954" cy="6019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Manual mapping and pasting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944916" y="4602480"/>
            <a:ext cx="3698139" cy="6019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109508" y="4602480"/>
            <a:ext cx="3368955" cy="6019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Bulk + mapped imports with audit reports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48640" y="5204460"/>
            <a:ext cx="3698138" cy="601980"/>
          </a:xfrm>
          <a:prstGeom prst="rect">
            <a:avLst/>
          </a:prstGeom>
          <a:solidFill>
            <a:srgbClr val="EF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3232" y="5204460"/>
            <a:ext cx="3368954" cy="6019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1F2937"/>
                </a:solidFill>
                <a:latin typeface="Calibri"/>
              </a:rPr>
              <a:t>Re-running a month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46778" y="5204460"/>
            <a:ext cx="3698138" cy="601980"/>
          </a:xfrm>
          <a:prstGeom prst="rect">
            <a:avLst/>
          </a:prstGeom>
          <a:solidFill>
            <a:srgbClr val="EF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411370" y="5204460"/>
            <a:ext cx="3368954" cy="6019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Risky; could overwrite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944916" y="5204460"/>
            <a:ext cx="3698139" cy="601980"/>
          </a:xfrm>
          <a:prstGeom prst="rect">
            <a:avLst/>
          </a:prstGeom>
          <a:solidFill>
            <a:srgbClr val="EF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109508" y="5204460"/>
            <a:ext cx="3368955" cy="6019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1F2937"/>
                </a:solidFill>
                <a:latin typeface="Calibri"/>
              </a:rPr>
              <a:t>Safe and idempotent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5989320"/>
            <a:ext cx="11094415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1">
                <a:solidFill>
                  <a:srgbClr val="3577B5"/>
                </a:solidFill>
                <a:latin typeface="Calibri"/>
              </a:rPr>
              <a:t>Engineers stop doing data plumbing — and spend time on interpretation.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BUILT FOR ENGINEERING TRUST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Reliability and auditability.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274320"/>
            <a:ext cx="12801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 i="0">
                <a:solidFill>
                  <a:srgbClr val="82BC3F"/>
                </a:solidFill>
                <a:latin typeface="Calibri"/>
              </a:rPr>
              <a:t>10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9224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Production Update System  ·  Pacific Canbriam Energy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9933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28800"/>
            <a:ext cx="5230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1F2937"/>
                </a:solidFill>
                <a:latin typeface="Calibri"/>
              </a:rPr>
              <a:t>Header, step lines, and summary on every run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4505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2286000"/>
            <a:ext cx="5230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1F2937"/>
                </a:solidFill>
                <a:latin typeface="Calibri"/>
              </a:rPr>
              <a:t>Row counts and elapsed time recorded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077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43200"/>
            <a:ext cx="5230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1F2937"/>
                </a:solidFill>
                <a:latin typeface="Calibri"/>
              </a:rPr>
              <a:t>Cancel supported during long jobs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3649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200400"/>
            <a:ext cx="5230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1F2937"/>
                </a:solidFill>
                <a:latin typeface="Calibri"/>
              </a:rPr>
              <a:t>Date caps prevent writing into incomplete days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19933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56832" y="1828800"/>
            <a:ext cx="5230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1F2937"/>
                </a:solidFill>
                <a:latin typeface="Calibri"/>
              </a:rPr>
              <a:t>Exception-flagged wells skipped automatically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24505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56832" y="2286000"/>
            <a:ext cx="5230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1F2937"/>
                </a:solidFill>
                <a:latin typeface="Calibri"/>
              </a:rPr>
              <a:t>Type-curve and YE2 rows protected during rebuilds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9077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56832" y="2743200"/>
            <a:ext cx="5230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1F2937"/>
                </a:solidFill>
                <a:latin typeface="Calibri"/>
              </a:rPr>
              <a:t>Concurrent engineers share the same SQL tables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33649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3200400"/>
            <a:ext cx="52303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1F2937"/>
                </a:solidFill>
                <a:latin typeface="Calibri"/>
              </a:rPr>
              <a:t>No silent overwrites; nothing happens off-screen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solidFill>
            <a:srgbClr val="E8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5760720"/>
            <a:ext cx="110944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0" i="1">
                <a:solidFill>
                  <a:srgbClr val="1A2C5C"/>
                </a:solidFill>
                <a:latin typeface="Calibri"/>
              </a:rPr>
              <a:t>If something goes wrong, you can read the log and reproduce the result.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ROADMAP — SHIPPED VALUE, CLEAR NEXT PHASE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What's next.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274320"/>
            <a:ext cx="12801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 i="0">
                <a:solidFill>
                  <a:srgbClr val="82BC3F"/>
                </a:solidFill>
                <a:latin typeface="Calibri"/>
              </a:rPr>
              <a:t>11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9224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Production Update System  ·  Pacific Canbriam Energy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9933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828800"/>
            <a:ext cx="70591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 i="0">
                <a:solidFill>
                  <a:srgbClr val="1F2937"/>
                </a:solidFill>
                <a:latin typeface="Calibri"/>
              </a:rPr>
              <a:t>Whitson+ Mass Upload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 — Replace the current placeholder workflow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4505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2286000"/>
            <a:ext cx="70591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 i="0">
                <a:solidFill>
                  <a:srgbClr val="1F2937"/>
                </a:solidFill>
                <a:latin typeface="Calibri"/>
              </a:rPr>
              <a:t>Exports / Reports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 — First-class dialog and scheduled extracts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077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2743200"/>
            <a:ext cx="70591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 i="0">
                <a:solidFill>
                  <a:srgbClr val="1F2937"/>
                </a:solidFill>
                <a:latin typeface="Calibri"/>
              </a:rPr>
              <a:t>Automated reconciliation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 — Cross-source checks (Snowflake / Accumap / ValNav)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3649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200400"/>
            <a:ext cx="705916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1" i="0">
                <a:solidFill>
                  <a:srgbClr val="1F2937"/>
                </a:solidFill>
                <a:latin typeface="Calibri"/>
              </a:rPr>
              <a:t>Smaller asks</a:t>
            </a:r>
            <a:r>
              <a:rPr sz="1700" b="0" i="0">
                <a:solidFill>
                  <a:srgbClr val="1F2937"/>
                </a:solidFill>
                <a:latin typeface="Calibri"/>
              </a:rPr>
              <a:t> — Better progress signals, more name-resolution rules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1828800"/>
            <a:ext cx="3657600" cy="4023360"/>
          </a:xfrm>
          <a:prstGeom prst="rect">
            <a:avLst/>
          </a:prstGeom>
          <a:solidFill>
            <a:srgbClr val="EFF6E2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1828800"/>
            <a:ext cx="164592" cy="4023360"/>
          </a:xfrm>
          <a:prstGeom prst="rect">
            <a:avLst/>
          </a:prstGeom>
          <a:solidFill>
            <a:srgbClr val="357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41080" y="2103120"/>
            <a:ext cx="2971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Owners &amp; timelines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41080" y="2862072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97112" y="2697480"/>
            <a:ext cx="2624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Tech lead — to be assigned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41080" y="3319272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897112" y="3154680"/>
            <a:ext cx="2624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Reservoir lead — to be assigned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641080" y="3776472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97112" y="3611880"/>
            <a:ext cx="26243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Pilot users — volunteers welcome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1A2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381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4592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82BC3F"/>
                </a:solidFill>
                <a:latin typeface="Calibri"/>
              </a:rPr>
              <a:t>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7200"/>
            <a:ext cx="100584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Questions.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274320"/>
            <a:ext cx="12801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400" b="1" i="0">
                <a:solidFill>
                  <a:srgbClr val="82BC3F"/>
                </a:solidFill>
                <a:latin typeface="Calibri"/>
              </a:rPr>
              <a:t>12 / 12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92240"/>
            <a:ext cx="11094415" cy="9525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65392"/>
            <a:ext cx="7315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B7280"/>
                </a:solidFill>
                <a:latin typeface="Calibri"/>
              </a:rPr>
              <a:t>Production Update System  ·  Pacific Canbriam Energy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945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1A2C5C"/>
                </a:solidFill>
                <a:latin typeface="Calibri"/>
              </a:rPr>
              <a:t>Thanks for your time.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154680"/>
            <a:ext cx="640080" cy="2540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3375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3577B5"/>
                </a:solidFill>
                <a:latin typeface="Calibri"/>
              </a:rPr>
              <a:t>Two minutes of Q&amp;A — or grab me after.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160520"/>
            <a:ext cx="5486400" cy="192024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4160520"/>
            <a:ext cx="164592" cy="1920240"/>
          </a:xfrm>
          <a:prstGeom prst="rect">
            <a:avLst/>
          </a:prstGeom>
          <a:solidFill>
            <a:srgbClr val="82BC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1560" y="4434840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Where to file requests / bugs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51560" y="51937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07592" y="5029200"/>
            <a:ext cx="44531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&lt;email or ticket link&gt;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5650992"/>
            <a:ext cx="91440" cy="91440"/>
          </a:xfrm>
          <a:prstGeom prst="rect">
            <a:avLst/>
          </a:prstGeom>
          <a:solidFill>
            <a:srgbClr val="82BC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07592" y="5486400"/>
            <a:ext cx="44531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Tag: Production Update System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4160520"/>
            <a:ext cx="5486400" cy="1920240"/>
          </a:xfrm>
          <a:prstGeom prst="rect">
            <a:avLst/>
          </a:prstGeom>
          <a:solidFill>
            <a:srgbClr val="E8EFF8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4160520"/>
            <a:ext cx="164592" cy="1920240"/>
          </a:xfrm>
          <a:prstGeom prst="rect">
            <a:avLst/>
          </a:prstGeom>
          <a:solidFill>
            <a:srgbClr val="3577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4434840"/>
            <a:ext cx="4800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A2C5C"/>
                </a:solidFill>
                <a:latin typeface="Calibri"/>
              </a:rPr>
              <a:t>Documentation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66560" y="5193792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22592" y="5029200"/>
            <a:ext cx="44531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Markdown files in the docs folder next to the source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6560" y="5650992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22592" y="5486400"/>
            <a:ext cx="44531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USER_GUIDE.md — operators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6108192"/>
            <a:ext cx="91440" cy="91440"/>
          </a:xfrm>
          <a:prstGeom prst="rect">
            <a:avLst/>
          </a:prstGeom>
          <a:solidFill>
            <a:srgbClr val="35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22592" y="5943600"/>
            <a:ext cx="445312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 i="0">
                <a:solidFill>
                  <a:srgbClr val="1F2937"/>
                </a:solidFill>
                <a:latin typeface="Calibri"/>
              </a:rPr>
              <a:t>DEV_GUIDE.md — overview · DEV_GUIDE_LAYOUT.md — module map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