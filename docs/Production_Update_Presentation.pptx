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4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377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2BC3F"/>
                </a:solidFill>
                <a:latin typeface="Calibri"/>
              </a:rPr>
              <a:t>PACIFIC CANBRIAM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Production Update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069080"/>
            <a:ext cx="640080" cy="254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2519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A centralized data platform for daily and monthly production.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263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82BC3F"/>
                </a:solidFill>
                <a:latin typeface="Calibri"/>
              </a:rPr>
              <a:t>PACIFIC CANBRIAM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Engineering Overview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THE PROBLEM WE WERE 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Everything lived in Excel.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3577B5"/>
                </a:solidFill>
                <a:latin typeface="Calibri"/>
              </a:rPr>
              <a:t>No central database. Every task was its own workbook.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9631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331720"/>
            <a:ext cx="65105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Manual copy-paste between Snowflake, ValNav, Accumap, and spreadsheets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5351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788920"/>
            <a:ext cx="65105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Allocation factors and sales ratios derived by hand — easy to break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1071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246120"/>
            <a:ext cx="65105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Re-running a month was risky; results varied between engineers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6791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703320"/>
            <a:ext cx="65105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Onboarding meant “learn the spreadsheets,” not “learn the data”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2511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4160520"/>
            <a:ext cx="65105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No reliable way to audit how a number was produced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194560"/>
            <a:ext cx="4023360" cy="384048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80960" y="2194560"/>
            <a:ext cx="164592" cy="384048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80" y="246888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Common failure modes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32278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39912" y="3063240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Two engineers editing copies of the same workbook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36850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9912" y="3520440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Mis-pasted columns silently changing totals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41422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39912" y="3977640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Lost public-sales data when re-doing 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45994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9912" y="4434840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Different answers for the same month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Two deliverables, designed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03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Calibri"/>
              </a:rPr>
              <a:t>A new SQL Server data model — and the application that keeps it current.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303520" cy="402336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64592" cy="402336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468880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2C5C"/>
                </a:solidFill>
                <a:latin typeface="Calibri"/>
              </a:rPr>
              <a:t>SQL Server data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322783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07592" y="3063240"/>
            <a:ext cx="42702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PCE_WM — Well Master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68503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07592" y="3520440"/>
            <a:ext cx="42702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PCE_CDA — daily allocation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414223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07592" y="3977640"/>
            <a:ext cx="42702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PCE_Production — daily production with sequences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459943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07592" y="4434840"/>
            <a:ext cx="42702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Allocation_Factors — PA &amp; Public Sales factors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505663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07592" y="4892040"/>
            <a:ext cx="42702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PCE_Surveys, PCE_TC — surveys and type curves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9320" y="3840480"/>
            <a:ext cx="365760" cy="548640"/>
          </a:xfrm>
          <a:prstGeom prst="rightArrow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46520" y="2194560"/>
            <a:ext cx="5303520" cy="4023360"/>
          </a:xfrm>
          <a:prstGeom prst="rect">
            <a:avLst/>
          </a:prstGeom>
          <a:solidFill>
            <a:srgbClr val="EFF6E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46520" y="2194560"/>
            <a:ext cx="164592" cy="402336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2468880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2C5C"/>
                </a:solidFill>
                <a:latin typeface="Calibri"/>
              </a:rPr>
              <a:t>PyQt5 desktop application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2278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05472" y="3063240"/>
            <a:ext cx="42702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One window, one operation per task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6850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05472" y="3520440"/>
            <a:ext cx="42702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Loads from Snowflake, ValNav, Accumap, Excel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41422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05472" y="3977640"/>
            <a:ext cx="42702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Writes back to the SQL tables — logged &amp; repeatable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45994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05472" y="4434840"/>
            <a:ext cx="42702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Background workers; cancel &amp; summary on every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ARCHITECTURE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data 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04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560320" cy="96012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09728" cy="96012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99339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2C5C"/>
                </a:solidFill>
                <a:latin typeface="Calibri"/>
              </a:rPr>
              <a:t>Snowflake / Prodview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Daily wellhead, gathered, pressures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2560320" cy="96012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971800"/>
            <a:ext cx="109728" cy="96012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13639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2C5C"/>
                </a:solidFill>
                <a:latin typeface="Calibri"/>
              </a:rPr>
              <a:t>ValNav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747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Monthly S2 / condensate factors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2560320" cy="96012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109728" cy="96012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27939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2C5C"/>
                </a:solidFill>
                <a:latin typeface="Calibri"/>
              </a:rPr>
              <a:t>Accumap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Monthly public sales gas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2560320" cy="96012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5257800"/>
            <a:ext cx="109728" cy="96012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42239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2C5C"/>
                </a:solidFill>
                <a:latin typeface="Calibri"/>
              </a:rPr>
              <a:t>Excel imports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Surveys &amp; type curves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200400" y="3337560"/>
            <a:ext cx="822960" cy="777240"/>
          </a:xfrm>
          <a:prstGeom prst="rightArrow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60520" y="2834640"/>
            <a:ext cx="2194560" cy="18288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60520" y="2834640"/>
            <a:ext cx="2194560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60520" y="301752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82BC3F"/>
                </a:solidFill>
                <a:latin typeface="Calibri"/>
              </a:rPr>
              <a:t>PRODUCTION 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5204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82BC3F"/>
                </a:solidFill>
                <a:latin typeface="Calibri"/>
              </a:rPr>
              <a:t>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406908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PyQt5 · ETL · audit log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446520" y="3337560"/>
            <a:ext cx="822960" cy="777240"/>
          </a:xfrm>
          <a:prstGeom prst="rightArrow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06640" y="1828800"/>
            <a:ext cx="4236415" cy="429768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06640" y="1828800"/>
            <a:ext cx="164592" cy="429768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09560" y="2103120"/>
            <a:ext cx="35506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C5C"/>
                </a:solidFill>
                <a:latin typeface="Calibri"/>
              </a:rPr>
              <a:t>SQL Server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28620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65592" y="2697480"/>
            <a:ext cx="320314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PCE_WM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09560" y="33192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65592" y="3154680"/>
            <a:ext cx="320314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PCE_CDA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37764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65592" y="3611880"/>
            <a:ext cx="320314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PCE_Production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09560" y="42336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65592" y="4069080"/>
            <a:ext cx="320314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Allocation_Factors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09560" y="46908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65592" y="4526280"/>
            <a:ext cx="320314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PCE_Surveys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51480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65592" y="4983480"/>
            <a:ext cx="320314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PCE_TC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WHAT THE APPLICATION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Eight operations, one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05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2636443" cy="219456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2636443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965960"/>
            <a:ext cx="20878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Well Master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2087803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Maintain PCE_WM; import new wells from Snowflake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7963" y="1691640"/>
            <a:ext cx="2636443" cy="219456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67963" y="1691640"/>
            <a:ext cx="2636443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42283" y="1965960"/>
            <a:ext cx="20878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Prodview / Snowflake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283" y="2468880"/>
            <a:ext cx="2087803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Daily production retrieve into CDA &amp; Production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1691640"/>
            <a:ext cx="2636443" cy="219456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87287" y="1691640"/>
            <a:ext cx="2636443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1607" y="1965960"/>
            <a:ext cx="20878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PA Allocations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2468880"/>
            <a:ext cx="2087803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Monthly ValNav factors → Allocation_Factors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611" y="1691640"/>
            <a:ext cx="2636443" cy="219456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06611" y="1691640"/>
            <a:ext cx="2636443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0931" y="1965960"/>
            <a:ext cx="20878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Public Sales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0931" y="2468880"/>
            <a:ext cx="2087803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Accumap sales gas + sales ratios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69080"/>
            <a:ext cx="2636443" cy="219456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069080"/>
            <a:ext cx="2636443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20878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Survey Import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46320"/>
            <a:ext cx="2087803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Directional / log surveys into PCE_Surveys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67963" y="4069080"/>
            <a:ext cx="2636443" cy="219456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367963" y="4069080"/>
            <a:ext cx="2636443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42283" y="4343400"/>
            <a:ext cx="20878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Type Curves Import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42283" y="4846320"/>
            <a:ext cx="2087803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Excel type curves → PCE_TC → Production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7287" y="4069080"/>
            <a:ext cx="2636443" cy="2194560"/>
          </a:xfrm>
          <a:prstGeom prst="rect">
            <a:avLst/>
          </a:prstGeom>
          <a:solidFill>
            <a:srgbClr val="F1F2F4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87287" y="4069080"/>
            <a:ext cx="2636443" cy="381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61607" y="4343400"/>
            <a:ext cx="20878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6B7280"/>
                </a:solidFill>
                <a:latin typeface="Calibri"/>
              </a:rPr>
              <a:t>Whitson+ Mass Upload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1607" y="4846320"/>
            <a:ext cx="2087803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Placeholder for next phase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611" y="4069080"/>
            <a:ext cx="2636443" cy="2194560"/>
          </a:xfrm>
          <a:prstGeom prst="rect">
            <a:avLst/>
          </a:prstGeom>
          <a:solidFill>
            <a:srgbClr val="F1F2F4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06611" y="4069080"/>
            <a:ext cx="2636443" cy="381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80931" y="4343400"/>
            <a:ext cx="20878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6B7280"/>
                </a:solidFill>
                <a:latin typeface="Calibri"/>
              </a:rPr>
              <a:t>Exports / Reports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0931" y="4846320"/>
            <a:ext cx="2087803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Placeholder for next phase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SNOWFLAKE → CDA + PRODUCTION REBUILD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Daily flow: Prodview / Snowflake.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06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287" y="2194560"/>
            <a:ext cx="2103120" cy="23774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2287" y="2194560"/>
            <a:ext cx="2103120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167" y="2249424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67" y="288036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Pick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167" y="352044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Auto: rolling 18 months, ends today − 2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58287" y="2194560"/>
            <a:ext cx="2103120" cy="23774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58287" y="2194560"/>
            <a:ext cx="2103120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41167" y="2249424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1167" y="288036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Pull Snowflake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1167" y="352044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ECF, Gas WH, CGR / water, WGR, pressures, allocation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44287" y="2194560"/>
            <a:ext cx="2103120" cy="23774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44287" y="2194560"/>
            <a:ext cx="2103120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27167" y="2249424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7167" y="288036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Refresh CDA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7167" y="352044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Replace matching PCE_CDA rows for the window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30287" y="2194560"/>
            <a:ext cx="2103120" cy="23774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30287" y="2194560"/>
            <a:ext cx="2103120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3167" y="2249424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3167" y="288036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Rebuild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3167" y="352044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Sequences, cumulatives, monthly averages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16287" y="2194560"/>
            <a:ext cx="2103120" cy="23774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16287" y="2194560"/>
            <a:ext cx="2103120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99167" y="2249424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STEP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9167" y="288036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Sync type curves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9167" y="352044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PCE_TC materialized into PCE_Production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7492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3577B5"/>
                </a:solidFill>
                <a:latin typeface="Calibri"/>
              </a:rPr>
              <a:t>One click. One log. One summary line with row counts and elapsed time.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7784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Exception wells skipped automatically · type-curve &amp; YE2 rows protected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VALNAV AND ACCUMAP, THE RIGHT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Monthly flow: PA + Public Sales.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07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828800"/>
            <a:ext cx="66934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PA Allocations (ValNav)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 — Writes monthly factors to Allocation_Factors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505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286000"/>
            <a:ext cx="66934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Public Sales (Accumap)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 — Merges sales gas; recomputes sales CGR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743200"/>
            <a:ext cx="66934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Auto-propagation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 — Allocation changes flow to PCE_CDA and PCE_Production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649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200400"/>
            <a:ext cx="66934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Sales_Gas preserved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 — Re-running PA does not erase Public Sales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221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657600"/>
            <a:ext cx="66934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Idempotent month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 — Existing month is deleted and rebuilt consistently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1828800"/>
            <a:ext cx="4023360" cy="4206240"/>
          </a:xfrm>
          <a:prstGeom prst="rect">
            <a:avLst/>
          </a:prstGeom>
          <a:solidFill>
            <a:srgbClr val="EFF6E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80960" y="1828800"/>
            <a:ext cx="164592" cy="420624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80" y="210312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The old foot-gun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28620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9912" y="2697480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Doing PA after Public Sales used to wipe Sales_Gas to zero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33192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39912" y="3154680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Engineers had to restore Accumap data by hand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37764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39912" y="3611880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Now: PA reads existing Sales_Gas first, then writes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42336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9912" y="4069080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Public Sales data survives PA reloads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SUPPORTING FLOWS — NOW ROUTINE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Well Master, Surveys, Type Curves.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08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657600" cy="42062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64592" cy="420624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10312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C5C"/>
                </a:solidFill>
                <a:latin typeface="Calibri"/>
              </a:rPr>
              <a:t>Well Master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8620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07592" y="2697480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Snowflake-driven new well preview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3192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07592" y="3154680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Safe edits with composite-name handling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37764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07592" y="3611880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Honored everywhere — exception flag respected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1828800"/>
            <a:ext cx="3657600" cy="42062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34840" y="1828800"/>
            <a:ext cx="164592" cy="420624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210312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C5C"/>
                </a:solidFill>
                <a:latin typeface="Calibri"/>
              </a:rPr>
              <a:t>Surveys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86207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93792" y="2697480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Bulk and mapped Excel layouts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331927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93792" y="3154680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Append vs overwrite behavior is explicit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377647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93792" y="3611880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Unmatched UWIs reported as a CSV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1828800"/>
            <a:ext cx="3383280" cy="4206240"/>
          </a:xfrm>
          <a:prstGeom prst="rect">
            <a:avLst/>
          </a:prstGeom>
          <a:solidFill>
            <a:srgbClr val="EFF6E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21040" y="1828800"/>
            <a:ext cx="164592" cy="420624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21031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C5C"/>
                </a:solidFill>
                <a:latin typeface="Calibri"/>
              </a:rPr>
              <a:t>Type Curves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28620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79992" y="2697480"/>
            <a:ext cx="23500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Excel → PCE_TC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23960" y="33192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79992" y="3154680"/>
            <a:ext cx="23500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Synced into PCE_Production at ImportDate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37764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79992" y="3611880"/>
            <a:ext cx="23500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Protected on every rebuild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BEFORE VS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this saves engineers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09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3698138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691640"/>
            <a:ext cx="336895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6778" y="1691640"/>
            <a:ext cx="3698138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1370" y="1691640"/>
            <a:ext cx="336895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Before — Excel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44916" y="1691640"/>
            <a:ext cx="3698139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09508" y="1691640"/>
            <a:ext cx="33689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After — App + 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94560"/>
            <a:ext cx="3698138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194560"/>
            <a:ext cx="3368954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Daily Snowflake → CDA → Production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6778" y="2194560"/>
            <a:ext cx="3698138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1370" y="2194560"/>
            <a:ext cx="3368954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Half-day spreadsheet round-trip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4916" y="2194560"/>
            <a:ext cx="3698139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09508" y="2194560"/>
            <a:ext cx="3368955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One dialog, hands-off, logged summary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96540"/>
            <a:ext cx="3698138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2796540"/>
            <a:ext cx="3368954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Monthly PA (ValNav)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6778" y="2796540"/>
            <a:ext cx="3698138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1370" y="2796540"/>
            <a:ext cx="3368954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Manual factor calc + manual propagation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44916" y="2796540"/>
            <a:ext cx="3698139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09508" y="2796540"/>
            <a:ext cx="3368955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One dialog; CDA / Production update automatically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98520"/>
            <a:ext cx="3698138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3398520"/>
            <a:ext cx="3368954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Public Sales (Accumap)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6778" y="3398520"/>
            <a:ext cx="3698138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11370" y="3398520"/>
            <a:ext cx="3368954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Manual UWI matching; risk of erasing PA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44916" y="3398520"/>
            <a:ext cx="3698139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09508" y="3398520"/>
            <a:ext cx="3368955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One dialog; unmatched UWIs reported; PA preserved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000500"/>
            <a:ext cx="3698138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4000500"/>
            <a:ext cx="3368954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New well onboarding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46778" y="4000500"/>
            <a:ext cx="3698138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11370" y="4000500"/>
            <a:ext cx="3368954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Update multiple workbooks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44916" y="4000500"/>
            <a:ext cx="3698139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09508" y="4000500"/>
            <a:ext cx="3368955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Add in Well Master, run Prodview when ready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602480"/>
            <a:ext cx="3698138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" y="4602480"/>
            <a:ext cx="3368954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Survey / Type Curve imports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46778" y="4602480"/>
            <a:ext cx="3698138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11370" y="4602480"/>
            <a:ext cx="3368954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Manual mapping and pasting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44916" y="4602480"/>
            <a:ext cx="3698139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09508" y="4602480"/>
            <a:ext cx="3368955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Bulk + mapped imports with audit reports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204460"/>
            <a:ext cx="3698138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3232" y="5204460"/>
            <a:ext cx="3368954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Re-running a month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46778" y="5204460"/>
            <a:ext cx="3698138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11370" y="5204460"/>
            <a:ext cx="3368954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Risky; could overwrite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44916" y="5204460"/>
            <a:ext cx="3698139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09508" y="5204460"/>
            <a:ext cx="3368955" cy="601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Safe and idempotent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1">
                <a:solidFill>
                  <a:srgbClr val="3577B5"/>
                </a:solidFill>
                <a:latin typeface="Calibri"/>
              </a:rPr>
              <a:t>Engineers stop doing data plumbing — and spend time on interpretation.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BUILT FOR ENGINEERING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Reliability and auditability.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10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828800"/>
            <a:ext cx="5230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Header, step lines, and summary on every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505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286000"/>
            <a:ext cx="5230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Row counts and elapsed time recorded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743200"/>
            <a:ext cx="5230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Cancel supported during long jobs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649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200400"/>
            <a:ext cx="5230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Date caps prevent writing into incomplete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9933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6832" y="1828800"/>
            <a:ext cx="5230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Exception-flagged wells skipped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4505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56832" y="2286000"/>
            <a:ext cx="5230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Type-curve and YE2 rows protected during rebuilds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9077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56832" y="2743200"/>
            <a:ext cx="5230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Concurrent engineers share the same SQL tables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649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56832" y="3200400"/>
            <a:ext cx="52303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No silent overwrites; nothing happens off-screen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1">
                <a:solidFill>
                  <a:srgbClr val="1A2C5C"/>
                </a:solidFill>
                <a:latin typeface="Calibri"/>
              </a:rPr>
              <a:t>If something goes wrong, you can read the log and reproduce the result.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ROADMAP — SHIPPED VALUE, CLEAR NEXT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What's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11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828800"/>
            <a:ext cx="70591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Whitson+ Mass Upload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 — Replace the current placeholder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505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286000"/>
            <a:ext cx="70591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Exports / Reports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 — First-class dialog and scheduled extracts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743200"/>
            <a:ext cx="70591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Automated reconciliation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 — Cross-source checks (Snowflake / Accumap / ValNav)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649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200400"/>
            <a:ext cx="70591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Smaller asks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 — Better progress signals, more name-resolution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3657600" cy="4023360"/>
          </a:xfrm>
          <a:prstGeom prst="rect">
            <a:avLst/>
          </a:prstGeom>
          <a:solidFill>
            <a:srgbClr val="EFF6E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828800"/>
            <a:ext cx="164592" cy="402336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41080" y="210312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Owners &amp; timelines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286207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97112" y="2697480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Tech lead — to be assigned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331927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97112" y="3154680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Reservoir lead — to be assigned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377647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7112" y="3611880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Pilot users — volunteers welcome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12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1A2C5C"/>
                </a:solidFill>
                <a:latin typeface="Calibri"/>
              </a:rPr>
              <a:t>Thanks for your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640080" cy="254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577B5"/>
                </a:solidFill>
                <a:latin typeface="Calibri"/>
              </a:rPr>
              <a:t>Two minutes of Q&amp;A — or grab me after.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5486400" cy="19202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4160520"/>
            <a:ext cx="164592" cy="192024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34840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Where to file requests / bugs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51937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07592" y="5029200"/>
            <a:ext cx="44531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&lt;email or ticket link&gt;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56509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07592" y="5486400"/>
            <a:ext cx="44531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Tag: Production Update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160520"/>
            <a:ext cx="5486400" cy="19202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4160520"/>
            <a:ext cx="164592" cy="192024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4434840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Documentation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519379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22592" y="5029200"/>
            <a:ext cx="44531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docs/USER_GUIDE.md — operators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565099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22592" y="5486400"/>
            <a:ext cx="44531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docs/DEV_GUIDE.md — overview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610819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22592" y="5943600"/>
            <a:ext cx="44531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docs/DEV_GUIDE_LAYOUT.md — deep technical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1133</Words>
  <Application>Microsoft Office PowerPoint</Application>
  <PresentationFormat>Widescreen</PresentationFormat>
  <Paragraphs>193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Ifeanyi Ayadiuno</dc:creator>
  <cp:keywords/>
  <dc:description>generated using python-pptx</dc:description>
  <cp:lastModifiedBy>Ifeanyi Ayadiuno</cp:lastModifiedBy>
  <cp:revision>2</cp:revision>
  <dcterms:created xsi:type="dcterms:W3CDTF">2013-01-27T09:14:16Z</dcterms:created>
  <dcterms:modified xsi:type="dcterms:W3CDTF">2026-05-17T01:26:34Z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09fcf1d1-461c-4340-940c-7e510ecfd93c</vt:lpwstr>
  </property>
  <property fmtid="{D5CDD505-2E9C-101B-9397-08002B2CF9AE}" pid="3" name="RGECLASSIFICATION">
    <vt:lpwstr>Unclassified</vt:lpwstr>
  </property>
  <property fmtid="{D5CDD505-2E9C-101B-9397-08002B2CF9AE}" pid="4" name="ORIGCLASSIFIER">
    <vt:lpwstr/>
  </property>
</Properties>
</file>