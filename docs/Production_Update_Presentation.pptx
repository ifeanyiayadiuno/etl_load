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6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hrSlideMaster.Title SlideHeader" descr="Internal                  ">
            <a:extLst>
              <a:ext uri="{FF2B5EF4-FFF2-40B4-BE49-F238E27FC236}">
                <a16:creationId xmlns:a16="http://schemas.microsoft.com/office/drawing/2014/main" id="{900951C8-BEEA-033F-51EC-75F00A7DE813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  <p:sp>
        <p:nvSpPr>
          <p:cNvPr id="8" name="hrTitle SlideHeader" descr="Internal                  ">
            <a:extLst>
              <a:ext uri="{FF2B5EF4-FFF2-40B4-BE49-F238E27FC236}">
                <a16:creationId xmlns:a16="http://schemas.microsoft.com/office/drawing/2014/main" id="{EA7F7EBD-1FD9-D1E4-6771-CC7A6D0CFCD1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hrSlideMaster.Title and ContentHeader" descr="Internal                  ">
            <a:extLst>
              <a:ext uri="{FF2B5EF4-FFF2-40B4-BE49-F238E27FC236}">
                <a16:creationId xmlns:a16="http://schemas.microsoft.com/office/drawing/2014/main" id="{80336BD5-92C9-9E7F-0C63-C7B078D8C668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hrSlideMaster.Section HeaderHeader" descr="Internal                  ">
            <a:extLst>
              <a:ext uri="{FF2B5EF4-FFF2-40B4-BE49-F238E27FC236}">
                <a16:creationId xmlns:a16="http://schemas.microsoft.com/office/drawing/2014/main" id="{67E34B0F-FFF0-A5DD-05BD-8AA7A38F15F8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hrSlideMaster.Two ContentHeader" descr="Internal                  ">
            <a:extLst>
              <a:ext uri="{FF2B5EF4-FFF2-40B4-BE49-F238E27FC236}">
                <a16:creationId xmlns:a16="http://schemas.microsoft.com/office/drawing/2014/main" id="{544F7E7C-12C1-5DEB-49B5-9041DE2CF6E3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hrSlideMaster.ComparisonHeader" descr="Internal                  ">
            <a:extLst>
              <a:ext uri="{FF2B5EF4-FFF2-40B4-BE49-F238E27FC236}">
                <a16:creationId xmlns:a16="http://schemas.microsoft.com/office/drawing/2014/main" id="{154E265A-447D-7649-5B42-4B42C0CA0FF0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hrSlideMaster.Title OnlyHeader" descr="Internal                  ">
            <a:extLst>
              <a:ext uri="{FF2B5EF4-FFF2-40B4-BE49-F238E27FC236}">
                <a16:creationId xmlns:a16="http://schemas.microsoft.com/office/drawing/2014/main" id="{2DAECFF7-A007-D1F2-92BB-1961B5112189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hrSlideMaster.BlankHeader" descr="Internal                  ">
            <a:extLst>
              <a:ext uri="{FF2B5EF4-FFF2-40B4-BE49-F238E27FC236}">
                <a16:creationId xmlns:a16="http://schemas.microsoft.com/office/drawing/2014/main" id="{F232DB96-F244-7353-4A5C-32072DAD2337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hrSlideMaster.Content with CaptionHeader" descr="Internal                  ">
            <a:extLst>
              <a:ext uri="{FF2B5EF4-FFF2-40B4-BE49-F238E27FC236}">
                <a16:creationId xmlns:a16="http://schemas.microsoft.com/office/drawing/2014/main" id="{2B4E1760-5D6E-5994-E8B5-E31643C905E8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hrSlideMaster.Picture with CaptionHeader" descr="Internal                  ">
            <a:extLst>
              <a:ext uri="{FF2B5EF4-FFF2-40B4-BE49-F238E27FC236}">
                <a16:creationId xmlns:a16="http://schemas.microsoft.com/office/drawing/2014/main" id="{263E9EF4-2395-76F6-CE1A-5BE44345AE5B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hrSlideMaster.Title and Vertical TextHeader" descr="Internal                  ">
            <a:extLst>
              <a:ext uri="{FF2B5EF4-FFF2-40B4-BE49-F238E27FC236}">
                <a16:creationId xmlns:a16="http://schemas.microsoft.com/office/drawing/2014/main" id="{B634159D-65ED-C1F3-E92D-BCA83EE3A188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hrSlideMaster.Vertical Title and TextHeader" descr="Internal                  ">
            <a:extLst>
              <a:ext uri="{FF2B5EF4-FFF2-40B4-BE49-F238E27FC236}">
                <a16:creationId xmlns:a16="http://schemas.microsoft.com/office/drawing/2014/main" id="{AA208673-137C-EF1E-5A2B-894DA7FBC052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CA" sz="1100" b="1" i="0" u="none" baseline="0">
                <a:solidFill>
                  <a:srgbClr val="000000"/>
                </a:solidFill>
                <a:latin typeface="arial" panose="020B0604020202020204" pitchFamily="34" charset="0"/>
              </a:rPr>
              <a:t>Internal                  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2377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82BC3F"/>
                </a:solidFill>
                <a:latin typeface="Calibri"/>
              </a:rPr>
              <a:t>PACIFIC CANBRIAM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Production Update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069080"/>
            <a:ext cx="640080" cy="254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2519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A centralized data platform for daily and monthly production.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B31D82-5914-4D04-C1D5-01D560257BF5}"/>
              </a:ext>
            </a:extLst>
          </p:cNvPr>
          <p:cNvSpPr txBox="1"/>
          <p:nvPr/>
        </p:nvSpPr>
        <p:spPr>
          <a:xfrm>
            <a:off x="868680" y="6483876"/>
            <a:ext cx="4082448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500" b="0" i="0" dirty="0" err="1">
                <a:solidFill>
                  <a:srgbClr val="92D050"/>
                </a:solidFill>
                <a:latin typeface="Calibri"/>
              </a:rPr>
              <a:t>Adobel</a:t>
            </a:r>
            <a:r>
              <a:rPr lang="en-CA" sz="1500" b="0" i="0" dirty="0">
                <a:solidFill>
                  <a:srgbClr val="92D050"/>
                </a:solidFill>
                <a:latin typeface="Calibri"/>
              </a:rPr>
              <a:t> Services Inc </a:t>
            </a:r>
            <a:r>
              <a:rPr lang="en-CA" sz="1500" dirty="0">
                <a:solidFill>
                  <a:srgbClr val="92D050"/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82BC3F"/>
                </a:solidFill>
                <a:latin typeface="Calibri"/>
              </a:rPr>
              <a:t>THE PROBLEM WE WERE SOLVING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Everything lived in Excel.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3577B5"/>
                </a:solidFill>
                <a:latin typeface="Calibri"/>
              </a:rPr>
              <a:t>No central database. Every task was its own workbook.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98776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2286000"/>
            <a:ext cx="6510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Manual copy-paste between Snowflake, ValNav, Accumap, and spreadsheets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81963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915" y="2973977"/>
            <a:ext cx="6510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Allocation factors and sales ratios derived by hand — easy to break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38728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438579"/>
            <a:ext cx="6510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Re-running a month was risky; results varied between engineers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883" y="409651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915" y="3993642"/>
            <a:ext cx="6510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Onboarding meant “learn the spreadsheets,” not “learn the data”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6883" y="4628388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4539996"/>
            <a:ext cx="6510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No reliable way to audit how a number was produced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2194560"/>
            <a:ext cx="4023360" cy="384048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80960" y="2194560"/>
            <a:ext cx="164592" cy="384048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80" y="2468880"/>
            <a:ext cx="3337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A2C5C"/>
                </a:solidFill>
                <a:latin typeface="Calibri"/>
              </a:rPr>
              <a:t>Common </a:t>
            </a:r>
            <a:r>
              <a:rPr lang="en-CA" sz="1600" b="1" dirty="0">
                <a:solidFill>
                  <a:srgbClr val="1A2C5C"/>
                </a:solidFill>
                <a:latin typeface="Calibri"/>
              </a:rPr>
              <a:t>hiccups/ time wasters</a:t>
            </a:r>
            <a:endParaRPr sz="1600" b="1" i="0" dirty="0">
              <a:solidFill>
                <a:srgbClr val="1A2C5C"/>
              </a:solidFill>
              <a:latin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183880" y="32278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83880" y="36850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183880" y="41422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183880" y="45994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501D17-42F5-A663-7879-FB19A92BEE4C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Two deliverables, designed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03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A new SQL Server data model — and the application that keeps it current.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303520" cy="40233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164592" cy="402336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2468880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2C5C"/>
                </a:solidFill>
                <a:latin typeface="Calibri"/>
              </a:rPr>
              <a:t>SQL Server data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32278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07592" y="3139440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PCE_WM — Well Master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6850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07592" y="3596640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PCE_CDA — daily allocation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41422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07592" y="4049486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PCE_Production — daily production with sequences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45994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07592" y="4506686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F2937"/>
                </a:solidFill>
                <a:latin typeface="Calibri"/>
              </a:rPr>
              <a:t>Allocation_Factors</a:t>
            </a:r>
            <a:r>
              <a:rPr sz="1400" b="0" i="0" dirty="0">
                <a:solidFill>
                  <a:srgbClr val="1F2937"/>
                </a:solidFill>
                <a:latin typeface="Calibri"/>
              </a:rPr>
              <a:t> — PA &amp; Public Sales factors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50566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307592" y="4983480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PCE_Surveys, PCE_TC — surveys and type curves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89320" y="3840480"/>
            <a:ext cx="365760" cy="548640"/>
          </a:xfrm>
          <a:prstGeom prst="rightArrow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46520" y="2194560"/>
            <a:ext cx="5303520" cy="4023360"/>
          </a:xfrm>
          <a:prstGeom prst="rect">
            <a:avLst/>
          </a:prstGeom>
          <a:solidFill>
            <a:srgbClr val="EFF6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46520" y="2194560"/>
            <a:ext cx="164592" cy="402336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49440" y="2468880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2C5C"/>
                </a:solidFill>
                <a:latin typeface="Calibri"/>
              </a:rPr>
              <a:t>PyQt5 desktop application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32278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205472" y="3139440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One window, one operation per task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49440" y="36850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205472" y="3606546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Loads from Snowflake, ValNav, Accumap, Excel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41422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05472" y="4064726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Writes back to the SQL tables — logged &amp; repeatable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49440" y="45994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05472" y="4506686"/>
            <a:ext cx="427024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Background workers; cancel &amp; summary on every run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841BDA-280F-A821-9AA4-A29BE39D6AA4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ARCHITECTURE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data flows.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04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2560320" cy="96012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109728" cy="96012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9339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A2C5C"/>
                </a:solidFill>
                <a:latin typeface="Calibri"/>
              </a:rPr>
              <a:t>Snowflake / Prodview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33172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Daily wellhead, gathered, pressures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71800"/>
            <a:ext cx="2560320" cy="96012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971800"/>
            <a:ext cx="109728" cy="96012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13639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A2C5C"/>
                </a:solidFill>
                <a:latin typeface="Calibri"/>
              </a:rPr>
              <a:t>ValNav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7472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Monthly S2 / condensate factors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14800"/>
            <a:ext cx="2560320" cy="96012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4114800"/>
            <a:ext cx="109728" cy="96012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7939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A2C5C"/>
                </a:solidFill>
                <a:latin typeface="Calibri"/>
              </a:rPr>
              <a:t>Accumap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1772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Monthly public sales gas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57800"/>
            <a:ext cx="2560320" cy="96012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5257800"/>
            <a:ext cx="109728" cy="96012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542239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A2C5C"/>
                </a:solidFill>
                <a:latin typeface="Calibri"/>
              </a:rPr>
              <a:t>Excel imports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Surveys &amp; type curves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200400" y="3337560"/>
            <a:ext cx="822960" cy="777240"/>
          </a:xfrm>
          <a:prstGeom prst="rightArrow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60520" y="2834640"/>
            <a:ext cx="2194560" cy="18288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60520" y="2834640"/>
            <a:ext cx="2194560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60520" y="301752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82BC3F"/>
                </a:solidFill>
                <a:latin typeface="Calibri"/>
              </a:rPr>
              <a:t>PRODUCTION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352044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82BC3F"/>
                </a:solidFill>
                <a:latin typeface="Calibri"/>
              </a:rPr>
              <a:t>APPLICATION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06908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PyQt5 · ETL · audit log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446520" y="3337560"/>
            <a:ext cx="822960" cy="777240"/>
          </a:xfrm>
          <a:prstGeom prst="rightArrow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406640" y="1828800"/>
            <a:ext cx="4236415" cy="429768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406640" y="1828800"/>
            <a:ext cx="164592" cy="429768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909560" y="2103120"/>
            <a:ext cx="35506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2C5C"/>
                </a:solidFill>
                <a:latin typeface="Calibri"/>
              </a:rPr>
              <a:t>SQL Server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9560" y="28620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165592" y="2774768"/>
            <a:ext cx="3203143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PCE_WM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09560" y="33192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165592" y="3231968"/>
            <a:ext cx="3203143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PCE_CDA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09560" y="37764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65592" y="3666309"/>
            <a:ext cx="3203143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PCE_Production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09560" y="42336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65592" y="4122420"/>
            <a:ext cx="3203143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F2937"/>
                </a:solidFill>
                <a:latin typeface="Calibri"/>
              </a:rPr>
              <a:t>Allocation_Factors</a:t>
            </a:r>
            <a:endParaRPr sz="1400" b="0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7909560" y="46908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165592" y="4603568"/>
            <a:ext cx="3203143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PCE_Surveys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1480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165592" y="5073831"/>
            <a:ext cx="3203143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1F2937"/>
                </a:solidFill>
                <a:latin typeface="Calibri"/>
              </a:rPr>
              <a:t>PCE_TC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DB4A443-9DB0-E4F2-8C83-6DE99903F85F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WHAT THE APPLICATION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Eight operations, one window.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05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6596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Well Master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68880"/>
            <a:ext cx="2087803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Maintain PCE_WM; import new wells from Snowflake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69164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67963" y="169164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42283" y="196596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Prodview / Snowflake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468880"/>
            <a:ext cx="2087803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Daily production retrieve into CDA &amp; Production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7287" y="169164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87287" y="169164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61607" y="196596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PA Allocations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2468880"/>
            <a:ext cx="2087803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Monthly ValNav factors → Allocation_Factors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611" y="169164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06611" y="169164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80931" y="196596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Public Sales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0931" y="2468880"/>
            <a:ext cx="2087803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Accumap sales gas + sales ratios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6908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406908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434340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Survey Import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846320"/>
            <a:ext cx="2087803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Directional / log surveys into PCE_Surveys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7963" y="406908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367963" y="406908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42283" y="434340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Type Curves Import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2283" y="4846320"/>
            <a:ext cx="2087803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Excel type curves → PCE_TC → Production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7287" y="4069080"/>
            <a:ext cx="2636443" cy="2194560"/>
          </a:xfrm>
          <a:prstGeom prst="rect">
            <a:avLst/>
          </a:prstGeom>
          <a:solidFill>
            <a:srgbClr val="F1F2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187287" y="4069080"/>
            <a:ext cx="2636443" cy="381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61607" y="434340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6B7280"/>
                </a:solidFill>
                <a:latin typeface="Calibri"/>
              </a:rPr>
              <a:t>Whitson+ Mass Upload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06611" y="4069080"/>
            <a:ext cx="2636443" cy="2194560"/>
          </a:xfrm>
          <a:prstGeom prst="rect">
            <a:avLst/>
          </a:prstGeom>
          <a:solidFill>
            <a:srgbClr val="F1F2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006611" y="4069080"/>
            <a:ext cx="2636443" cy="381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280931" y="4343400"/>
            <a:ext cx="2087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6B7280"/>
                </a:solidFill>
                <a:latin typeface="Calibri"/>
              </a:rPr>
              <a:t>Exports / Reports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2A337B-E848-CE1E-671F-E240523F70AE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SNOWFLAKE → CDA + PRODUCTION REBUILD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Daily flow: Prodview / Snowflake.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06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2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72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5167" y="2249424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167" y="288036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Pick window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167" y="3520440"/>
            <a:ext cx="1737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Auto: rolling 18 months, ends today − 2 days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58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58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41167" y="2249424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1167" y="288036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Pull Snowflake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1167" y="3520440"/>
            <a:ext cx="1737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ECF, Gas WH, CGR / water, WGR, pressures, allocation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4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44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27167" y="2249424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7167" y="288036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Refresh CDA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7167" y="3520440"/>
            <a:ext cx="1737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Replace matching PCE_CDA rows for the window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30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30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13167" y="2249424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3167" y="288036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Rebuild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3167" y="3520440"/>
            <a:ext cx="1737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Sequences, cumulatives, monthly averages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16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616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99167" y="2249424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9167" y="288036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Sync type curves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9167" y="3520440"/>
            <a:ext cx="1737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PCE_TC materialized into PCE_Production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74920"/>
            <a:ext cx="110944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3577B5"/>
                </a:solidFill>
                <a:latin typeface="Calibri"/>
              </a:rPr>
              <a:t>One click. One log. One summary line with row counts and elapsed time.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577840"/>
            <a:ext cx="11094415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 dirty="0">
                <a:solidFill>
                  <a:srgbClr val="6B7280"/>
                </a:solidFill>
                <a:latin typeface="Calibri"/>
              </a:rPr>
              <a:t>Exception wells skipped automatically · type-curve</a:t>
            </a:r>
            <a:r>
              <a:rPr lang="en-CA" sz="1300" b="0" i="0" dirty="0">
                <a:solidFill>
                  <a:srgbClr val="6B7280"/>
                </a:solidFill>
                <a:latin typeface="Calibri"/>
              </a:rPr>
              <a:t>s are protected</a:t>
            </a:r>
            <a:endParaRPr sz="1300" b="0" i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643A4D-138E-8251-59E1-BECAA3B57E93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VALNAV AND ACCUMAP, THE RIGHT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Monthly flow: PA + Public Sales.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07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933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1887365"/>
            <a:ext cx="669340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PA Allocations (ValNav)</a:t>
            </a:r>
            <a:r>
              <a:rPr sz="1600" b="0" i="0" dirty="0">
                <a:solidFill>
                  <a:srgbClr val="1F2937"/>
                </a:solidFill>
                <a:latin typeface="Calibri"/>
              </a:rPr>
              <a:t> — Writes monthly factors to </a:t>
            </a:r>
            <a:r>
              <a:rPr sz="1600" b="0" i="0" dirty="0" err="1">
                <a:solidFill>
                  <a:srgbClr val="1F2937"/>
                </a:solidFill>
                <a:latin typeface="Calibri"/>
              </a:rPr>
              <a:t>Allocation_Factors</a:t>
            </a:r>
            <a:endParaRPr sz="1600" b="0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8640" y="24505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366554"/>
            <a:ext cx="669340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Public Sales (Accumap)</a:t>
            </a:r>
            <a:r>
              <a:rPr sz="1600" b="0" i="0" dirty="0">
                <a:solidFill>
                  <a:srgbClr val="1F2937"/>
                </a:solidFill>
                <a:latin typeface="Calibri"/>
              </a:rPr>
              <a:t> — Merges sales gas; recomputes sales CGR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077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808732"/>
            <a:ext cx="669340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Auto-propagation</a:t>
            </a:r>
            <a:r>
              <a:rPr sz="1600" b="0" i="0">
                <a:solidFill>
                  <a:srgbClr val="1F2937"/>
                </a:solidFill>
                <a:latin typeface="Calibri"/>
              </a:rPr>
              <a:t> — Allocation changes flow to PCE_CDA and PCE_Production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649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271919"/>
            <a:ext cx="669340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Idempotent month</a:t>
            </a:r>
            <a:r>
              <a:rPr sz="1600" b="0" i="0" dirty="0">
                <a:solidFill>
                  <a:srgbClr val="1F2937"/>
                </a:solidFill>
                <a:latin typeface="Calibri"/>
              </a:rPr>
              <a:t> — Existing month is deleted and rebuilt consistently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0A89AF-C104-0647-344C-C6C15235D61C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SUPPORTING FLOWS — NOW ROUTINE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Well Master, Surveys, Type Curves.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08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3657600" cy="42062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164592" cy="420624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21031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2C5C"/>
                </a:solidFill>
                <a:latin typeface="Calibri"/>
              </a:rPr>
              <a:t>Well Master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28620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07592" y="2783586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Snowflake-driven new well preview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33192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07592" y="3240786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Safe edits with composite-name handling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" y="3928110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07592" y="3867912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Honored everywhere — exception flag respected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1828800"/>
            <a:ext cx="3657600" cy="42062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34840" y="1828800"/>
            <a:ext cx="164592" cy="420624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37760" y="21031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2C5C"/>
                </a:solidFill>
                <a:latin typeface="Calibri"/>
              </a:rPr>
              <a:t>Surveys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286207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93792" y="2781300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Bulk and mapped Excel layouts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331927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93792" y="3240786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Append vs overwrite behavior is explicit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2840" y="3916681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93792" y="3843964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Unmatched UWIs reported as a CSV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1828800"/>
            <a:ext cx="3383280" cy="4206240"/>
          </a:xfrm>
          <a:prstGeom prst="rect">
            <a:avLst/>
          </a:prstGeom>
          <a:solidFill>
            <a:srgbClr val="EFF6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321040" y="1828800"/>
            <a:ext cx="164592" cy="420624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23960" y="2103120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2C5C"/>
                </a:solidFill>
                <a:latin typeface="Calibri"/>
              </a:rPr>
              <a:t>Type Curves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23960" y="28620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79992" y="2783586"/>
            <a:ext cx="235000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Excel → PCE_TC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33192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079992" y="3236323"/>
            <a:ext cx="235000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Synced into PCE_Production at </a:t>
            </a:r>
            <a:r>
              <a:rPr sz="1300" b="0" i="0" dirty="0" err="1">
                <a:solidFill>
                  <a:srgbClr val="1F2937"/>
                </a:solidFill>
                <a:latin typeface="Calibri"/>
              </a:rPr>
              <a:t>ImportDate</a:t>
            </a:r>
            <a:endParaRPr sz="1300" b="0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8823960" y="3890010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079992" y="3802380"/>
            <a:ext cx="235000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Protected on every rebuild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90BE732-3C87-623B-7CA6-EF1AC8F0C6AC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BEFORE VS AFTER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this saves engineers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09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3698138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691640"/>
            <a:ext cx="336895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Task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778" y="1691640"/>
            <a:ext cx="3698138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11370" y="1691640"/>
            <a:ext cx="336895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Before — Excel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44916" y="1691640"/>
            <a:ext cx="3698139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09508" y="1691640"/>
            <a:ext cx="336895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After — App + 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219456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Daily Snowflake → CDA → Production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46778" y="219456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11370" y="219456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Half-day spreadsheet round-trip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44916" y="2194560"/>
            <a:ext cx="3698139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09508" y="2194560"/>
            <a:ext cx="3368955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dialog, hands-off, logged 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79654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279654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Monthly PA (ValNav)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46778" y="279654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11370" y="279654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Manual factor calc + manual propagation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44916" y="2796540"/>
            <a:ext cx="3698139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09508" y="2796540"/>
            <a:ext cx="3368955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dialog; CDA / Production update automatically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9852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3232" y="339852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Public Sales (Accumap)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46778" y="339852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11370" y="339852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Manual UWI matching; risk of erasing PA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44916" y="3398520"/>
            <a:ext cx="3698139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09508" y="3398520"/>
            <a:ext cx="3368955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dialog; unmatched UWIs reported; PA preserved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00050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13232" y="400050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New well onboarding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46778" y="400050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11370" y="400050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Update multiple workbooks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44916" y="4000500"/>
            <a:ext cx="3698139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109508" y="4000500"/>
            <a:ext cx="3368955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Add in Well Master, run Prodview when ready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60248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13232" y="460248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Survey / Type Curve imports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46778" y="460248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411370" y="460248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Manual mapping and pasting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44916" y="4602480"/>
            <a:ext cx="3698139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109508" y="4602480"/>
            <a:ext cx="3368955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Bulk + mapped imports with audit reports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20446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13232" y="520446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Re-running a month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46778" y="520446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11370" y="5204460"/>
            <a:ext cx="3368954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Risky; could overwrite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44916" y="5204460"/>
            <a:ext cx="3698139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109508" y="5204460"/>
            <a:ext cx="3368955" cy="601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Safe and idempotent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1">
                <a:solidFill>
                  <a:srgbClr val="3577B5"/>
                </a:solidFill>
                <a:latin typeface="Calibri"/>
              </a:rPr>
              <a:t>Engineers stop doing data plumbing — and spend time on interpretation.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094D084-FBA2-AFCB-E8B5-DD4A656C0364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BUILT FOR ENGINEERING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Reliability and auditability.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10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933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1869186"/>
            <a:ext cx="523036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Header, step lines, and summary on every 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505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340864"/>
            <a:ext cx="523036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Row counts and elapsed time recorded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077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807208"/>
            <a:ext cx="523036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Cancel supported during long jobs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649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3273552"/>
            <a:ext cx="523036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Date caps prevent writing into incomplete days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9933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56832" y="1883664"/>
            <a:ext cx="523036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Exception-flagged wells skipped automatically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4505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2318548"/>
            <a:ext cx="5230368" cy="2757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Type-curve</a:t>
            </a:r>
            <a:r>
              <a:rPr lang="en-CA" sz="1600" b="1" i="0" dirty="0">
                <a:solidFill>
                  <a:srgbClr val="1F2937"/>
                </a:solidFill>
                <a:latin typeface="Calibri"/>
              </a:rPr>
              <a:t>s are </a:t>
            </a:r>
            <a:r>
              <a:rPr sz="1600" b="1" i="0" dirty="0">
                <a:solidFill>
                  <a:srgbClr val="1F2937"/>
                </a:solidFill>
                <a:latin typeface="Calibri"/>
              </a:rPr>
              <a:t>protected during rebuilds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9077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56832" y="2808297"/>
            <a:ext cx="523036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Concurrent engineers share the same SQL tables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649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56832" y="3265497"/>
            <a:ext cx="523036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 dirty="0">
                <a:solidFill>
                  <a:srgbClr val="1F2937"/>
                </a:solidFill>
                <a:latin typeface="Calibri"/>
              </a:rPr>
              <a:t>No silent overwrites; nothing happens off-screen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1">
                <a:solidFill>
                  <a:srgbClr val="1A2C5C"/>
                </a:solidFill>
                <a:latin typeface="Calibri"/>
              </a:rPr>
              <a:t>If something goes wrong, you can read the log and reproduce the result.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17A9C5-2F64-81C7-CDAF-78B04F98D503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A946D-67F0-72E5-1BB2-DE0387CB6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DC183D8-7447-FE6B-D688-3214949E1751}"/>
              </a:ext>
            </a:extLst>
          </p:cNvPr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0A046C-EBE8-164B-A872-08883A991FD4}"/>
              </a:ext>
            </a:extLst>
          </p:cNvPr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E6A479-85D0-B8D5-F851-7CF08CD3EAA7}"/>
              </a:ext>
            </a:extLst>
          </p:cNvPr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BUILT FOR ENGINEERING TRUST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50B84-9DB6-FEC2-0E1C-EBC65BC128D4}"/>
              </a:ext>
            </a:extLst>
          </p:cNvPr>
          <p:cNvSpPr txBox="1"/>
          <p:nvPr/>
        </p:nvSpPr>
        <p:spPr>
          <a:xfrm>
            <a:off x="548640" y="457200"/>
            <a:ext cx="100584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CA" sz="3000" b="1" i="0" dirty="0">
                <a:solidFill>
                  <a:srgbClr val="FFFFFF"/>
                </a:solidFill>
                <a:latin typeface="Calibri"/>
              </a:rPr>
              <a:t>Value Added </a:t>
            </a:r>
            <a:endParaRPr sz="3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0E700E-8F89-773A-7A96-F4B1D5380E02}"/>
              </a:ext>
            </a:extLst>
          </p:cNvPr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77FED7-01DC-C0B7-94C7-B5B3ACF47656}"/>
              </a:ext>
            </a:extLst>
          </p:cNvPr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45EC9B-E0B1-0C0F-B69B-D0B3CC75E0AF}"/>
              </a:ext>
            </a:extLst>
          </p:cNvPr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FABF22-83EF-C9F4-D4C5-732788D436AF}"/>
              </a:ext>
            </a:extLst>
          </p:cNvPr>
          <p:cNvSpPr/>
          <p:nvPr/>
        </p:nvSpPr>
        <p:spPr>
          <a:xfrm>
            <a:off x="548640" y="2047506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DDDDE8-8032-198E-0339-086BC0C361A6}"/>
              </a:ext>
            </a:extLst>
          </p:cNvPr>
          <p:cNvSpPr txBox="1"/>
          <p:nvPr/>
        </p:nvSpPr>
        <p:spPr>
          <a:xfrm>
            <a:off x="804672" y="1869186"/>
            <a:ext cx="5230368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CA" sz="2500" b="1" i="0" dirty="0">
                <a:solidFill>
                  <a:srgbClr val="1F2937"/>
                </a:solidFill>
                <a:latin typeface="Calibri"/>
              </a:rPr>
              <a:t>Automated work flows</a:t>
            </a:r>
            <a:endParaRPr sz="2500" b="1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4715F8-F748-D1AF-AC76-7A889EF67D92}"/>
              </a:ext>
            </a:extLst>
          </p:cNvPr>
          <p:cNvSpPr/>
          <p:nvPr/>
        </p:nvSpPr>
        <p:spPr>
          <a:xfrm>
            <a:off x="548640" y="2504706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E36472-4203-3435-C4C0-CCAA3105F5D2}"/>
              </a:ext>
            </a:extLst>
          </p:cNvPr>
          <p:cNvSpPr txBox="1"/>
          <p:nvPr/>
        </p:nvSpPr>
        <p:spPr>
          <a:xfrm>
            <a:off x="804672" y="2340864"/>
            <a:ext cx="5230368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CA" sz="2500" b="1" i="0" dirty="0">
                <a:solidFill>
                  <a:srgbClr val="1F2937"/>
                </a:solidFill>
                <a:latin typeface="Calibri"/>
              </a:rPr>
              <a:t>Data integrity</a:t>
            </a:r>
            <a:endParaRPr sz="2500" b="1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07C301-AA07-649D-034B-913DC4359B75}"/>
              </a:ext>
            </a:extLst>
          </p:cNvPr>
          <p:cNvSpPr/>
          <p:nvPr/>
        </p:nvSpPr>
        <p:spPr>
          <a:xfrm>
            <a:off x="548640" y="2961906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78B30C-9E30-9984-F5C9-1F2A224B1999}"/>
              </a:ext>
            </a:extLst>
          </p:cNvPr>
          <p:cNvSpPr txBox="1"/>
          <p:nvPr/>
        </p:nvSpPr>
        <p:spPr>
          <a:xfrm>
            <a:off x="804672" y="2749201"/>
            <a:ext cx="5230368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CA" sz="2500" b="1" i="0" dirty="0">
                <a:solidFill>
                  <a:srgbClr val="1F2937"/>
                </a:solidFill>
                <a:latin typeface="Calibri"/>
              </a:rPr>
              <a:t>Repeatability and Auditability</a:t>
            </a:r>
            <a:endParaRPr sz="2500" b="1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D3613B-DFD9-E832-1DF9-33ACE5F3DD44}"/>
              </a:ext>
            </a:extLst>
          </p:cNvPr>
          <p:cNvSpPr/>
          <p:nvPr/>
        </p:nvSpPr>
        <p:spPr>
          <a:xfrm>
            <a:off x="548640" y="3419106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03A83C-485E-A1B2-CCDE-5FC7945CF948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877742-FBBA-AF49-398D-1045F80EDF8D}"/>
              </a:ext>
            </a:extLst>
          </p:cNvPr>
          <p:cNvSpPr txBox="1"/>
          <p:nvPr/>
        </p:nvSpPr>
        <p:spPr>
          <a:xfrm>
            <a:off x="726613" y="3234012"/>
            <a:ext cx="376732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5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Single Source of Truth</a:t>
            </a:r>
            <a:endParaRPr lang="en-CA" sz="2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78908B1-EA22-5D29-43BF-DC1299490146}"/>
              </a:ext>
            </a:extLst>
          </p:cNvPr>
          <p:cNvSpPr/>
          <p:nvPr/>
        </p:nvSpPr>
        <p:spPr>
          <a:xfrm>
            <a:off x="548640" y="3923373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E67C1E-437A-DC63-C65F-EB524B253050}"/>
              </a:ext>
            </a:extLst>
          </p:cNvPr>
          <p:cNvSpPr txBox="1"/>
          <p:nvPr/>
        </p:nvSpPr>
        <p:spPr>
          <a:xfrm>
            <a:off x="726613" y="3714523"/>
            <a:ext cx="376732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5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Easier onboarding</a:t>
            </a:r>
            <a:endParaRPr lang="en-CA" sz="2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A44C74E-908C-655C-28CA-5ED35AE3D406}"/>
              </a:ext>
            </a:extLst>
          </p:cNvPr>
          <p:cNvSpPr txBox="1"/>
          <p:nvPr/>
        </p:nvSpPr>
        <p:spPr>
          <a:xfrm>
            <a:off x="726613" y="4200983"/>
            <a:ext cx="376732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5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Clear audit trail</a:t>
            </a:r>
            <a:endParaRPr lang="en-CA" sz="2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75F8F9-4967-3D2A-637E-9CB3770AF4A3}"/>
              </a:ext>
            </a:extLst>
          </p:cNvPr>
          <p:cNvSpPr/>
          <p:nvPr/>
        </p:nvSpPr>
        <p:spPr>
          <a:xfrm>
            <a:off x="550424" y="44094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514742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12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1A2C5C"/>
                </a:solidFill>
                <a:latin typeface="Calibri"/>
              </a:rPr>
              <a:t>Thanks for your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54680"/>
            <a:ext cx="640080" cy="254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3577B5"/>
                </a:solidFill>
                <a:latin typeface="Calibri"/>
              </a:rPr>
              <a:t>Two minutes of Q&amp;A — or grab me after.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160520"/>
            <a:ext cx="5486400" cy="19202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4160520"/>
            <a:ext cx="164592" cy="192024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4434840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Where to file requests / bugs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4974068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07592" y="4906129"/>
            <a:ext cx="4453128" cy="2240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CA" sz="1300" b="0" i="0" dirty="0">
                <a:solidFill>
                  <a:srgbClr val="1F2937"/>
                </a:solidFill>
                <a:latin typeface="Calibri"/>
              </a:rPr>
              <a:t>Ticket to adobelservicesinc@gmail.com</a:t>
            </a:r>
            <a:endParaRPr sz="1300" b="0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051560" y="5527414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07592" y="5486400"/>
            <a:ext cx="44531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Tag: Production Update System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60520"/>
            <a:ext cx="5486400" cy="19202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4160520"/>
            <a:ext cx="164592" cy="192024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0" y="4434840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Documentation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4869180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022592" y="4790558"/>
            <a:ext cx="44531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docs/USER_GUIDE.md — operators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5280660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22592" y="5193792"/>
            <a:ext cx="44531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docs/DEV_GUIDE.md — overview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5721967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22592" y="5650992"/>
            <a:ext cx="44531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 dirty="0">
                <a:solidFill>
                  <a:srgbClr val="1F2937"/>
                </a:solidFill>
                <a:latin typeface="Calibri"/>
              </a:rPr>
              <a:t>docs/DEV_GUIDE_LAYOUT.md — deep technical map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14D6AB-8086-12E1-DDC1-E75E4DFB0EB3}"/>
              </a:ext>
            </a:extLst>
          </p:cNvPr>
          <p:cNvSpPr txBox="1"/>
          <p:nvPr/>
        </p:nvSpPr>
        <p:spPr>
          <a:xfrm>
            <a:off x="10600509" y="6605468"/>
            <a:ext cx="4082448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CA" sz="1200" b="0" i="0" dirty="0" err="1">
                <a:solidFill>
                  <a:srgbClr val="6B7280"/>
                </a:solidFill>
                <a:latin typeface="Calibri"/>
              </a:rPr>
              <a:t>Adobel</a:t>
            </a:r>
            <a:r>
              <a:rPr lang="en-CA" sz="1200" b="0" i="0" dirty="0">
                <a:solidFill>
                  <a:srgbClr val="6B7280"/>
                </a:solidFill>
                <a:latin typeface="Calibri"/>
              </a:rPr>
              <a:t> Services Inc 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</a:rPr>
              <a:t>©</a:t>
            </a:r>
          </a:p>
          <a:p>
            <a:pPr algn="l"/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1591</TotalTime>
  <Words>1038</Words>
  <Application>Microsoft Office PowerPoint</Application>
  <PresentationFormat>Widescreen</PresentationFormat>
  <Paragraphs>189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Ifeanyi Ayadiuno</dc:creator>
  <cp:keywords/>
  <dc:description>generated using python-pptx</dc:description>
  <cp:lastModifiedBy>Ifeanyi Ayadiuno</cp:lastModifiedBy>
  <cp:revision>6</cp:revision>
  <dcterms:created xsi:type="dcterms:W3CDTF">2013-01-27T09:14:16Z</dcterms:created>
  <dcterms:modified xsi:type="dcterms:W3CDTF">2026-05-26T19:50:00Z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09fcf1d1-461c-4340-940c-7e510ecfd93c</vt:lpwstr>
  </property>
  <property fmtid="{D5CDD505-2E9C-101B-9397-08002B2CF9AE}" pid="3" name="RGECLASSIFICATION">
    <vt:lpwstr>Internal</vt:lpwstr>
  </property>
  <property fmtid="{D5CDD505-2E9C-101B-9397-08002B2CF9AE}" pid="4" name="ORIGCLASSIFIER">
    <vt:lpwstr>iayadiuno</vt:lpwstr>
  </property>
</Properties>
</file>