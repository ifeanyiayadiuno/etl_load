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0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276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context: this is the application replacing the spreadsheet-driven</a:t>
            </a:r>
          </a:p>
          <a:p>
            <a:r>
              <a:t>process the team used for daily Snowflake pulls, monthly allocations,</a:t>
            </a:r>
          </a:p>
          <a:p>
            <a:r>
              <a:t>public sales, surveys, and type curves. Goal of this session: 10</a:t>
            </a:r>
          </a:p>
          <a:p>
            <a:r>
              <a:t>minutes on what it is and what it saves us; a few minutes for</a:t>
            </a:r>
          </a:p>
          <a:p>
            <a:r>
              <a:t>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old process worked, but it was fragile. A broken formula or a</a:t>
            </a:r>
          </a:p>
          <a:p>
            <a:r>
              <a:t>mis-pasted column meant rerunning everything by hand. There was no</a:t>
            </a:r>
          </a:p>
          <a:p>
            <a:r>
              <a:t>single source of truth and no easy way to repeat a month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we need to keep CDA, Production, Allocation Factors,</a:t>
            </a:r>
          </a:p>
          <a:p>
            <a:r>
              <a:t>Surveys, and Type Curves up to date is now behind one button per task.</a:t>
            </a:r>
          </a:p>
          <a:p>
            <a:r>
              <a:t>Same database tables, same column names — we didn’t change the</a:t>
            </a:r>
          </a:p>
          <a:p>
            <a:r>
              <a:t>downstream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You don’t need to memorize this. The takeaway: each data source has</a:t>
            </a:r>
          </a:p>
          <a:p>
            <a:r>
              <a:t>**one** ingestion path in the app, and each ingestion path has a clear</a:t>
            </a:r>
          </a:p>
          <a:p>
            <a:r>
              <a:t>target. No “which spreadsheet wins”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map 1-to-1 to what the team already does each month. Whitson and</a:t>
            </a:r>
          </a:p>
          <a:p>
            <a:r>
              <a:t>Exports are placeholders for the next phase — we’ll get to that at the</a:t>
            </a:r>
          </a:p>
          <a:p>
            <a:r>
              <a:t>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daily cadence. Engineers used to chase “which days do I</a:t>
            </a:r>
          </a:p>
          <a:p>
            <a:r>
              <a:t>re-pull?” The app now picks the right window, deletes only what should</a:t>
            </a:r>
          </a:p>
          <a:p>
            <a:r>
              <a:t>change, and re-inserts in one go. No date pickers, no surprises.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month-end story used to be: do PA, then redo sales by hand. Now</a:t>
            </a:r>
          </a:p>
          <a:p>
            <a:r>
              <a:t>the second step is a single dialog, and re-running the first one</a:t>
            </a:r>
          </a:p>
          <a:p>
            <a:r>
              <a:t>doesn’t wipe the second’s data. This was a real foot-gun in the old</a:t>
            </a:r>
          </a:p>
          <a:p>
            <a:r>
              <a:t>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“supporting” imports, but they used to involve as much</a:t>
            </a:r>
          </a:p>
          <a:p>
            <a:r>
              <a:t>careful spreadsheet work as the main flow. Now they are routine and</a:t>
            </a:r>
          </a:p>
          <a:p>
            <a:r>
              <a:t>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7C266-C295-A6B4-FE37-081F4D850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B91C3-F092-60EF-A54B-E31DD7B06F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FD1EF-6042-574C-3771-238B6CD7C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“supporting” imports, but they used to involve as much</a:t>
            </a:r>
          </a:p>
          <a:p>
            <a:r>
              <a:t>careful spreadsheet work as the main flow. Now they are routine and</a:t>
            </a:r>
          </a:p>
          <a:p>
            <a:r>
              <a:t>consistent.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85D5E-D810-217E-0002-E096EE377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65050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I want the room to remember. It’s not about “fancy</a:t>
            </a:r>
          </a:p>
          <a:p>
            <a:r>
              <a:t>software,” it’s about the recurring work the team had to do every</a:t>
            </a:r>
          </a:p>
          <a:p>
            <a:r>
              <a:t>single month, and how much of that is now automated and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reassurance for the engineering audience: no silent overwrites,</a:t>
            </a:r>
          </a:p>
          <a:p>
            <a:r>
              <a:t>the app is verbose about what it did, and there are guardrails for the</a:t>
            </a:r>
          </a:p>
          <a:p>
            <a:r>
              <a:t>data we don’t want 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We’re shipping value now, but there’s a clear next phase. I want to</a:t>
            </a:r>
          </a:p>
          <a:p>
            <a:r>
              <a:t>prioritize based on what causes the most manual work today — please</a:t>
            </a:r>
          </a:p>
          <a:p>
            <a:r>
              <a:t>push items at me after this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Thanks. Two minutes of Q&amp;A or grab me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1091153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1A4D3E"/>
                </a:solidFill>
              </a:rPr>
              <a:t>Pacific Canbriam Energy — Production Update System</a:t>
            </a:r>
          </a:p>
          <a:p>
            <a:pPr>
              <a:spcBef>
                <a:spcPts val="600"/>
              </a:spcBef>
            </a:pPr>
            <a:r>
              <a:rPr sz="2000" b="0" dirty="0">
                <a:solidFill>
                  <a:srgbClr val="212B2F"/>
                </a:solidFill>
              </a:rPr>
              <a:t>A single application for daily and monthly production data</a:t>
            </a:r>
          </a:p>
          <a:p>
            <a:pPr>
              <a:spcBef>
                <a:spcPts val="600"/>
              </a:spcBef>
            </a:pPr>
            <a:r>
              <a:rPr sz="2000" b="0" dirty="0">
                <a:solidFill>
                  <a:srgbClr val="212B2F"/>
                </a:solidFill>
              </a:rPr>
              <a:t>Presented by: </a:t>
            </a:r>
            <a:r>
              <a:rPr lang="en-CA" sz="2000" b="0" dirty="0">
                <a:solidFill>
                  <a:srgbClr val="212B2F"/>
                </a:solidFill>
              </a:rPr>
              <a:t>Ifeanyi Ayadiuno</a:t>
            </a:r>
            <a:endParaRPr sz="2000" b="0" dirty="0">
              <a:solidFill>
                <a:srgbClr val="212B2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64592" r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The problem we’re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Daily/monthly numbers were assembled in multiple Excel workbooks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Manual </a:t>
            </a:r>
            <a:r>
              <a:rPr lang="en-CA" sz="1800" b="0" dirty="0">
                <a:solidFill>
                  <a:srgbClr val="212B2F"/>
                </a:solidFill>
              </a:rPr>
              <a:t>data entry</a:t>
            </a:r>
            <a:r>
              <a:rPr sz="1800" b="0" dirty="0">
                <a:solidFill>
                  <a:srgbClr val="212B2F"/>
                </a:solidFill>
              </a:rPr>
              <a:t> from Snowflake, Accumap, ValNav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Allocation factors and sales ratios computed by hand → easy to break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Hard to audit; hard to redo a month consistently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Onboarding a new engineer was “learn the spreadsheet”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an example of the old Excel workflow (if you have a sanitized snippet) or a folder full of spreadsheets.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64592" r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What the app is, 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785" y="1143000"/>
            <a:ext cx="64008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One desktop app, one team, one source of truth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Pulls Snowflake + Accumap + ValNav + Type Curves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Writes to </a:t>
            </a:r>
            <a:r>
              <a:rPr lang="en-CA" sz="1800" b="0" dirty="0">
                <a:solidFill>
                  <a:srgbClr val="212B2F"/>
                </a:solidFill>
              </a:rPr>
              <a:t>newly created </a:t>
            </a:r>
            <a:r>
              <a:rPr sz="1800" b="0" dirty="0">
                <a:solidFill>
                  <a:srgbClr val="212B2F"/>
                </a:solidFill>
              </a:rPr>
              <a:t>SQL Server tables 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Each operation is a dialog with a clear progress + 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/>
            <a:r>
              <a:rPr sz="1500" b="1" dirty="0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 dirty="0">
                <a:solidFill>
                  <a:srgbClr val="212B2F"/>
                </a:solidFill>
              </a:rPr>
              <a:t>main window with the 8 operation buttons.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64592" r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How data flows (high level)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Snowflake → daily wellhead, gathered, pressures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ValNav → monthly S2 / condensate factors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Accumap → monthly public sales gas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Type Curves Excel → </a:t>
            </a:r>
            <a:r>
              <a:rPr lang="en-CA" sz="1800" b="0" dirty="0">
                <a:solidFill>
                  <a:srgbClr val="212B2F"/>
                </a:solidFill>
              </a:rPr>
              <a:t>forecasting data </a:t>
            </a:r>
            <a:endParaRPr sz="1800" b="0" dirty="0">
              <a:solidFill>
                <a:srgbClr val="212B2F"/>
              </a:solidFill>
            </a:endParaRP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Out: PCE_WM, PCE_CDA, PCE_Production, </a:t>
            </a:r>
            <a:r>
              <a:rPr sz="1800" b="0" dirty="0" err="1">
                <a:solidFill>
                  <a:srgbClr val="212B2F"/>
                </a:solidFill>
              </a:rPr>
              <a:t>Allocation_Factors</a:t>
            </a:r>
            <a:r>
              <a:rPr sz="1800" b="0" dirty="0">
                <a:solidFill>
                  <a:srgbClr val="212B2F"/>
                </a:solidFill>
              </a:rPr>
              <a:t>, PCE_Surveys, PCE_TC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simplified diagram (we can render the mermaid one from the user guide as a PNG, or draw a 5-box sketch).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64592" r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The eight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Well Master — maintain PCE_WM, import new wells from Snowflake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</a:t>
            </a:r>
            <a:r>
              <a:rPr sz="1800" b="0" dirty="0" err="1">
                <a:solidFill>
                  <a:srgbClr val="212B2F"/>
                </a:solidFill>
              </a:rPr>
              <a:t>Prodview</a:t>
            </a:r>
            <a:r>
              <a:rPr sz="1800" b="0" dirty="0">
                <a:solidFill>
                  <a:srgbClr val="212B2F"/>
                </a:solidFill>
              </a:rPr>
              <a:t> / Snowflake — daily production retrieve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PA Allocations — monthly ValNav factors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Public Sales Data and Ratios — Accumap sales gas + ratios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Survey Import — directional/log surveys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Type Curves Import — Excel type curves into PCE_TC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Whitson+ Mass Upload (placeholder) and Exports (placeholder)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the operations panel from the main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64592" r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Daily flow: Prodview / Snowflake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Default mode: Snowflake → CDA + Production rebuild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Window is automatic (rolling ~18 months</a:t>
            </a:r>
            <a:r>
              <a:rPr lang="en-CA" dirty="0">
                <a:solidFill>
                  <a:srgbClr val="212B2F"/>
                </a:solidFill>
              </a:rPr>
              <a:t>)</a:t>
            </a:r>
            <a:endParaRPr sz="1800" b="0" dirty="0">
              <a:solidFill>
                <a:srgbClr val="212B2F"/>
              </a:solidFill>
            </a:endParaRP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Replaces matching PCE_CDA rows</a:t>
            </a:r>
            <a:r>
              <a:rPr lang="en-CA" sz="1800" b="0" dirty="0">
                <a:solidFill>
                  <a:srgbClr val="212B2F"/>
                </a:solidFill>
              </a:rPr>
              <a:t> (staging table)</a:t>
            </a:r>
            <a:r>
              <a:rPr sz="1800" b="0" dirty="0">
                <a:solidFill>
                  <a:srgbClr val="212B2F"/>
                </a:solidFill>
              </a:rPr>
              <a:t>, rebuilds PCE_Production for</a:t>
            </a:r>
            <a:r>
              <a:rPr lang="en-CA" sz="1800" b="0" dirty="0">
                <a:solidFill>
                  <a:srgbClr val="212B2F"/>
                </a:solidFill>
              </a:rPr>
              <a:t> that window</a:t>
            </a:r>
            <a:endParaRPr sz="1800" b="0" dirty="0">
              <a:solidFill>
                <a:srgbClr val="212B2F"/>
              </a:solidFill>
            </a:endParaRP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One click. One log. One summary line with row counts and duration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Prodview / Snowflake dialog mid-run, with log lines 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64592" r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Monthly flow: PA + Public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19" y="1143000"/>
            <a:ext cx="655102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PA Allocations (ValNav) writes monthly factors to</a:t>
            </a:r>
            <a:r>
              <a:rPr lang="en-CA" sz="1800" b="0" dirty="0">
                <a:solidFill>
                  <a:srgbClr val="212B2F"/>
                </a:solidFill>
              </a:rPr>
              <a:t> </a:t>
            </a:r>
            <a:r>
              <a:rPr lang="en-CA" sz="1800" b="0" dirty="0" err="1">
                <a:solidFill>
                  <a:srgbClr val="212B2F"/>
                </a:solidFill>
              </a:rPr>
              <a:t>Allocation_Factors</a:t>
            </a:r>
            <a:r>
              <a:rPr lang="en-CA" sz="1800" b="0" dirty="0">
                <a:solidFill>
                  <a:srgbClr val="212B2F"/>
                </a:solidFill>
              </a:rPr>
              <a:t> </a:t>
            </a:r>
            <a:endParaRPr sz="1800" b="0" dirty="0">
              <a:solidFill>
                <a:srgbClr val="212B2F"/>
              </a:solidFill>
            </a:endParaRP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Public Sales merges Accumap sales gas, recomputes sales ratios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Allocations propagate to PCE_CDA and PCE_Production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Existing month? App deletes and rebuilds that month consistently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PA dialog completion summary; Public Sales dialog with month list.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64592" r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Well Master, Surveys, Type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Well Master</a:t>
            </a:r>
            <a:r>
              <a:rPr lang="en-CA" sz="1800" b="0" dirty="0">
                <a:solidFill>
                  <a:srgbClr val="212B2F"/>
                </a:solidFill>
              </a:rPr>
              <a:t> (sourc</a:t>
            </a:r>
            <a:r>
              <a:rPr lang="en-CA" dirty="0">
                <a:solidFill>
                  <a:srgbClr val="212B2F"/>
                </a:solidFill>
              </a:rPr>
              <a:t>e of truth)</a:t>
            </a:r>
            <a:r>
              <a:rPr sz="1800" b="0" dirty="0">
                <a:solidFill>
                  <a:srgbClr val="212B2F"/>
                </a:solidFill>
              </a:rPr>
              <a:t> — Snowflake-driven new well import; safe edits;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Surveys — UWI matching with composite-name preference; clear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Type Curves — Excel → PCE_TC; sync into PCE_Production 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Everything is logged, named, and repeatable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one screenshot per item if space allows (or a 1×3 collage).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BBA87-743E-C863-DEEE-F71F98687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34F8A3-0D79-A7E1-14DE-C92939B467E9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64592" rIns="365760" rtlCol="0" anchor="ctr"/>
          <a:lstStyle/>
          <a:p>
            <a:pPr algn="ctr"/>
            <a:r>
              <a:rPr lang="en-CA" sz="2600" b="1" dirty="0">
                <a:solidFill>
                  <a:srgbClr val="FFFFFF"/>
                </a:solidFill>
              </a:rPr>
              <a:t>Whitson+ Upload and exports 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A986E6-8DB1-BAEB-3FC7-F4CEF90097A7}"/>
              </a:ext>
            </a:extLst>
          </p:cNvPr>
          <p:cNvSpPr txBox="1"/>
          <p:nvPr/>
        </p:nvSpPr>
        <p:spPr>
          <a:xfrm>
            <a:off x="411785" y="1045028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Everything is logged, named, and repeatable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0DA331-1471-1B84-AAEA-33B9330EEF23}"/>
              </a:ext>
            </a:extLst>
          </p:cNvPr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/>
            <a:r>
              <a:rPr sz="1500" b="1" dirty="0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 dirty="0">
                <a:solidFill>
                  <a:srgbClr val="212B2F"/>
                </a:solidFill>
              </a:rPr>
              <a:t>one screenshot per item if space allows (or a 1×3 collage).</a:t>
            </a:r>
          </a:p>
        </p:txBody>
      </p:sp>
    </p:spTree>
    <p:extLst>
      <p:ext uri="{BB962C8B-B14F-4D97-AF65-F5344CB8AC3E}">
        <p14:creationId xmlns:p14="http://schemas.microsoft.com/office/powerpoint/2010/main" val="165156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64592" rIns="365760" rtlCol="0" anchor="ctr"/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How this saves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Daily Snowflake pull: minutes, hands-off vs. multi-hour spreadsheet round-trip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Month-end: PA + Public Sales runs in a single sitting, not a multi-day stitching exercise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New well onboarding: insert in Well Master, then run Prodview when ready — no separate spreadsheet to update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Re-running a month is safe and idempotent — no fear of breaking historical data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Engineers focus on interpretation, not data plumbing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before/after timeline image (we can sketch two horizontal bars: Excel vs App).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64592" r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Reliability and auditability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Every run prints a header, steps, and a summary 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Cancel during long jobs is supported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Date caps prevent writing into days Snowflake isn’t ready for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Exception-flagged wells in PCE_WM are skipped automatically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212B2F"/>
                </a:solidFill>
              </a:rPr>
              <a:t>•  Type curve</a:t>
            </a:r>
            <a:r>
              <a:rPr lang="en-CA" sz="1800" b="0" dirty="0">
                <a:solidFill>
                  <a:srgbClr val="212B2F"/>
                </a:solidFill>
              </a:rPr>
              <a:t> data is </a:t>
            </a:r>
            <a:r>
              <a:rPr sz="1800" b="0" dirty="0">
                <a:solidFill>
                  <a:srgbClr val="212B2F"/>
                </a:solidFill>
              </a:rPr>
              <a:t>protected during rebuilds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log panel showing a successful run summary.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64592" r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What’s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Whitson+ mass upload (currently placeholder)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Exports / reports dialog (placeholder)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More automated reconciliation between sources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Smaller asks: better progress indicators, more name-resolution rules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Owners and timelines — &lt;fill in for your team&gt;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/>
            <a:r>
              <a:rPr sz="1500" b="1" dirty="0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 dirty="0">
                <a:solidFill>
                  <a:srgbClr val="212B2F"/>
                </a:solidFill>
              </a:rPr>
              <a:t>Whitson and Exports buttons on the main window (or a roadmap sketch).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64592" r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Questions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Where to file requests / bugs: &lt;link or email&gt;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B2F"/>
                </a:solidFill>
              </a:rPr>
              <a:t>•  User guide: USER_GUIDE.md in the repo</a:t>
            </a:r>
          </a:p>
        </p:txBody>
      </p:sp>
      <p:sp>
        <p:nvSpPr>
          <p:cNvPr id="4" name="Rectangle 3"/>
          <p:cNvSpPr/>
          <p:nvPr/>
        </p:nvSpPr>
        <p:spPr>
          <a:xfrm>
            <a:off x="7178040" y="1143000"/>
            <a:ext cx="4602175" cy="5303520"/>
          </a:xfrm>
          <a:prstGeom prst="rect">
            <a:avLst/>
          </a:prstGeom>
          <a:solidFill>
            <a:srgbClr val="F1F3F2"/>
          </a:solidFill>
          <a:ln w="15875">
            <a:solidFill>
              <a:srgbClr val="B7C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/>
            <a:r>
              <a:rPr sz="1500" b="1">
                <a:solidFill>
                  <a:srgbClr val="2E8B57"/>
                </a:solidFill>
              </a:rPr>
              <a:t>[ SCREENSHOT ]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212B2F"/>
                </a:solidFill>
              </a:rPr>
              <a:t>logo / closing.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1335</Words>
  <Application>Microsoft Office PowerPoint</Application>
  <PresentationFormat>Widescreen</PresentationFormat>
  <Paragraphs>132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Ifeanyi Ayadiuno</dc:creator>
  <cp:keywords/>
  <dc:description>generated using python-pptx</dc:description>
  <cp:lastModifiedBy>Ifeanyi Ayadiuno</cp:lastModifiedBy>
  <cp:revision>2</cp:revision>
  <dcterms:created xsi:type="dcterms:W3CDTF">2013-01-27T09:14:16Z</dcterms:created>
  <dcterms:modified xsi:type="dcterms:W3CDTF">2026-05-07T22:06:35Z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57289098-df99-4b23-b3af-73188bd7946d</vt:lpwstr>
  </property>
  <property fmtid="{D5CDD505-2E9C-101B-9397-08002B2CF9AE}" pid="3" name="RGECLASSIFICATION">
    <vt:lpwstr>Unclassified</vt:lpwstr>
  </property>
  <property fmtid="{D5CDD505-2E9C-101B-9397-08002B2CF9AE}" pid="4" name="ORIGCLASSIFIER">
    <vt:lpwstr/>
  </property>
</Properties>
</file>