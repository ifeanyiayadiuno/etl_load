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notesMasterIdLst>
    <p:notesMasterId r:id="rId12"/>
  </p:notesMasterIdLst>
  <p:sldIdLst>
    <p:sldId id="256" r:id="rId7"/>
    <p:sldId id="273" r:id="rId8"/>
    <p:sldId id="271" r:id="rId9"/>
    <p:sldId id="274" r:id="rId10"/>
    <p:sldId id="275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88831" autoAdjust="0"/>
  </p:normalViewPr>
  <p:slideViewPr>
    <p:cSldViewPr snapToGrid="0">
      <p:cViewPr varScale="1">
        <p:scale>
          <a:sx n="98" d="100"/>
          <a:sy n="98" d="100"/>
        </p:scale>
        <p:origin x="10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94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C7ADC85-D18C-4657-A26E-D1B0655BCC86}" type="datetimeFigureOut">
              <a:rPr lang="en-CA" smtClean="0"/>
              <a:t>2026-06-30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1663377-ACB7-4A6B-96C2-4E1E36FA84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621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63377-ACB7-4A6B-96C2-4E1E36FA848D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597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63377-ACB7-4A6B-96C2-4E1E36FA848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734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63377-ACB7-4A6B-96C2-4E1E36FA848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365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a - Title -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1BB9492-C706-1D92-81F3-395585F9C2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6675"/>
          <a:stretch/>
        </p:blipFill>
        <p:spPr>
          <a:xfrm>
            <a:off x="6876000" y="458445"/>
            <a:ext cx="5925600" cy="5925600"/>
          </a:xfrm>
          <a:prstGeom prst="flowChartConnector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06ED6-4372-38D4-8A7E-D012A1D713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9402" y="3056712"/>
            <a:ext cx="4676598" cy="142718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5400" spc="0"/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A5F7D-12A8-E8A4-93C4-63E8908B3B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2350" y="4532598"/>
            <a:ext cx="4673647" cy="246136"/>
          </a:xfrm>
        </p:spPr>
        <p:txBody>
          <a:bodyPr>
            <a:normAutofit/>
          </a:bodyPr>
          <a:lstStyle>
            <a:lvl1pPr marL="0" indent="0" algn="l">
              <a:buNone/>
              <a:defRPr sz="16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DATE AND/OR SUBTITLE HERE</a:t>
            </a:r>
            <a:endParaRPr lang="en-CA" dirty="0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E191DD3-61E3-6855-A8C1-BF847EE2DB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74" y="1860706"/>
            <a:ext cx="1998940" cy="60038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55E45D-F5F0-2662-5067-15630E387686}"/>
              </a:ext>
            </a:extLst>
          </p:cNvPr>
          <p:cNvCxnSpPr>
            <a:cxnSpLocks/>
          </p:cNvCxnSpPr>
          <p:nvPr userDrawn="1"/>
        </p:nvCxnSpPr>
        <p:spPr>
          <a:xfrm>
            <a:off x="955875" y="2989690"/>
            <a:ext cx="0" cy="1789044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2DE854-7D75-BC3C-8544-2227742CF992}"/>
              </a:ext>
            </a:extLst>
          </p:cNvPr>
          <p:cNvCxnSpPr>
            <a:cxnSpLocks/>
          </p:cNvCxnSpPr>
          <p:nvPr userDrawn="1"/>
        </p:nvCxnSpPr>
        <p:spPr>
          <a:xfrm>
            <a:off x="1028762" y="3102334"/>
            <a:ext cx="0" cy="178904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D3B02F5-04AA-A931-F0C9-7B80F30C8F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5997" y="443282"/>
            <a:ext cx="5339856" cy="5955870"/>
          </a:xfrm>
          <a:prstGeom prst="rect">
            <a:avLst/>
          </a:prstGeom>
        </p:spPr>
      </p:pic>
      <p:sp>
        <p:nvSpPr>
          <p:cNvPr id="4" name="hrSlideMaster.1a - Title - PhotoHeader" descr="                    ">
            <a:extLst>
              <a:ext uri="{FF2B5EF4-FFF2-40B4-BE49-F238E27FC236}">
                <a16:creationId xmlns:a16="http://schemas.microsoft.com/office/drawing/2014/main" id="{B58DD233-4D3E-8384-213F-E181071B8942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  <p:sp>
        <p:nvSpPr>
          <p:cNvPr id="5" name="hr1a - Title - PhotoHeader" descr="                    ">
            <a:extLst>
              <a:ext uri="{FF2B5EF4-FFF2-40B4-BE49-F238E27FC236}">
                <a16:creationId xmlns:a16="http://schemas.microsoft.com/office/drawing/2014/main" id="{4435733C-5044-8270-EC7A-426A88941516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216154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a - Title -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6ED6-4372-38D4-8A7E-D012A1D713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9402" y="3056712"/>
            <a:ext cx="4676598" cy="142718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5400" spc="0"/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A5F7D-12A8-E8A4-93C4-63E8908B3B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2350" y="4532598"/>
            <a:ext cx="4673647" cy="246136"/>
          </a:xfrm>
        </p:spPr>
        <p:txBody>
          <a:bodyPr>
            <a:normAutofit/>
          </a:bodyPr>
          <a:lstStyle>
            <a:lvl1pPr marL="0" indent="0" algn="l">
              <a:buNone/>
              <a:defRPr sz="16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DATE AND/OR SUBTITLE HERE</a:t>
            </a:r>
            <a:endParaRPr lang="en-CA" dirty="0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E191DD3-61E3-6855-A8C1-BF847EE2D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74" y="1860706"/>
            <a:ext cx="1998940" cy="60038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55E45D-F5F0-2662-5067-15630E387686}"/>
              </a:ext>
            </a:extLst>
          </p:cNvPr>
          <p:cNvCxnSpPr>
            <a:cxnSpLocks/>
          </p:cNvCxnSpPr>
          <p:nvPr userDrawn="1"/>
        </p:nvCxnSpPr>
        <p:spPr>
          <a:xfrm>
            <a:off x="955875" y="2989690"/>
            <a:ext cx="0" cy="1789044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2DE854-7D75-BC3C-8544-2227742CF992}"/>
              </a:ext>
            </a:extLst>
          </p:cNvPr>
          <p:cNvCxnSpPr>
            <a:cxnSpLocks/>
          </p:cNvCxnSpPr>
          <p:nvPr userDrawn="1"/>
        </p:nvCxnSpPr>
        <p:spPr>
          <a:xfrm>
            <a:off x="1028762" y="3102334"/>
            <a:ext cx="0" cy="178904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099D919-07E1-592B-8085-CC948768BD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5412" y="757"/>
            <a:ext cx="5536588" cy="6856485"/>
          </a:xfrm>
          <a:prstGeom prst="rect">
            <a:avLst/>
          </a:prstGeom>
        </p:spPr>
      </p:pic>
      <p:sp>
        <p:nvSpPr>
          <p:cNvPr id="4" name="hrSlideMaster.1a - Title - LogoHeader" descr="                    ">
            <a:extLst>
              <a:ext uri="{FF2B5EF4-FFF2-40B4-BE49-F238E27FC236}">
                <a16:creationId xmlns:a16="http://schemas.microsoft.com/office/drawing/2014/main" id="{CC695AA4-A5A6-E603-0B39-D4604AB0A792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403149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 - Section Title / Transi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6ED6-4372-38D4-8A7E-D012A1D713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9401" y="3056712"/>
            <a:ext cx="7373307" cy="142718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5400" spc="0"/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or transition title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A5F7D-12A8-E8A4-93C4-63E8908B3B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2350" y="4532598"/>
            <a:ext cx="7373307" cy="246136"/>
          </a:xfrm>
        </p:spPr>
        <p:txBody>
          <a:bodyPr>
            <a:normAutofit/>
          </a:bodyPr>
          <a:lstStyle>
            <a:lvl1pPr marL="0" indent="0" algn="l">
              <a:buNone/>
              <a:defRPr sz="16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SECTION OR TRANSITION SUBTEXT</a:t>
            </a:r>
            <a:endParaRPr lang="en-CA" dirty="0"/>
          </a:p>
        </p:txBody>
      </p:sp>
      <p:sp>
        <p:nvSpPr>
          <p:cNvPr id="4" name="hrSlideMaster.2 - Section Title / TransitionHeader" descr="                    ">
            <a:extLst>
              <a:ext uri="{FF2B5EF4-FFF2-40B4-BE49-F238E27FC236}">
                <a16:creationId xmlns:a16="http://schemas.microsoft.com/office/drawing/2014/main" id="{2CDE276E-2F0C-25A5-D9BC-10637AE006FB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126647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white object with a blue background&#10;&#10;Description automatically generated">
            <a:extLst>
              <a:ext uri="{FF2B5EF4-FFF2-40B4-BE49-F238E27FC236}">
                <a16:creationId xmlns:a16="http://schemas.microsoft.com/office/drawing/2014/main" id="{8BD787BF-54F7-C951-D8F3-46BDA039B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" y="1"/>
            <a:ext cx="3841928" cy="1624822"/>
          </a:xfrm>
          <a:prstGeom prst="rect">
            <a:avLst/>
          </a:prstGeom>
        </p:spPr>
      </p:pic>
      <p:pic>
        <p:nvPicPr>
          <p:cNvPr id="20" name="Picture 19" descr="A blue and black wave&#10;&#10;Description automatically generated">
            <a:extLst>
              <a:ext uri="{FF2B5EF4-FFF2-40B4-BE49-F238E27FC236}">
                <a16:creationId xmlns:a16="http://schemas.microsoft.com/office/drawing/2014/main" id="{37338D52-DAE2-7329-9C33-4FB4F2C41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181" y="5626455"/>
            <a:ext cx="2583246" cy="1240971"/>
          </a:xfrm>
          <a:prstGeom prst="rect">
            <a:avLst/>
          </a:prstGeom>
        </p:spPr>
      </p:pic>
      <p:pic>
        <p:nvPicPr>
          <p:cNvPr id="7" name="Picture 6" descr="A blue and green circle with black background&#10;&#10;Description automatically generated">
            <a:extLst>
              <a:ext uri="{FF2B5EF4-FFF2-40B4-BE49-F238E27FC236}">
                <a16:creationId xmlns:a16="http://schemas.microsoft.com/office/drawing/2014/main" id="{7EBA8BA1-DC3D-58EE-43F1-6E9E55429A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22276"/>
            <a:ext cx="666784" cy="66678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BCAD27C-FB3F-4A3C-BEC3-3DC69D4628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6218" y="395275"/>
            <a:ext cx="10376714" cy="46827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800" spc="0"/>
            </a:lvl1pPr>
          </a:lstStyle>
          <a:p>
            <a:r>
              <a:rPr lang="en-US" dirty="0"/>
              <a:t>Content slide title</a:t>
            </a:r>
            <a:endParaRPr lang="en-CA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3F48586-3772-8FCC-AE74-B19EC5E5EE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6218" y="879450"/>
            <a:ext cx="10376714" cy="246136"/>
          </a:xfrm>
        </p:spPr>
        <p:txBody>
          <a:bodyPr>
            <a:noAutofit/>
          </a:bodyPr>
          <a:lstStyle>
            <a:lvl1pPr marL="0" indent="0" algn="l">
              <a:buNone/>
              <a:defRPr sz="13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SECTION HEADING TITLE</a:t>
            </a:r>
            <a:endParaRPr lang="en-CA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C02D69-E647-73F5-5136-F2BDB6235290}"/>
              </a:ext>
            </a:extLst>
          </p:cNvPr>
          <p:cNvCxnSpPr>
            <a:cxnSpLocks/>
          </p:cNvCxnSpPr>
          <p:nvPr userDrawn="1"/>
        </p:nvCxnSpPr>
        <p:spPr>
          <a:xfrm>
            <a:off x="11720302" y="5507260"/>
            <a:ext cx="0" cy="68875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69C0FE-22DC-22B5-887E-9AE659B304C5}"/>
              </a:ext>
            </a:extLst>
          </p:cNvPr>
          <p:cNvCxnSpPr>
            <a:cxnSpLocks/>
          </p:cNvCxnSpPr>
          <p:nvPr userDrawn="1"/>
        </p:nvCxnSpPr>
        <p:spPr>
          <a:xfrm>
            <a:off x="11789962" y="5436095"/>
            <a:ext cx="2967" cy="67419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B8081BA-EBAD-B8A8-87F6-2576754AB8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4586" y="1825625"/>
            <a:ext cx="11268343" cy="4160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DA6899B5-6242-543B-E3E3-5AE89F9F6E2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0805" y="6319350"/>
            <a:ext cx="5459760" cy="13542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GLOBAL PRESENTATION DATE OR SUBTITLE</a:t>
            </a:r>
            <a:endParaRPr lang="en-CA" dirty="0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5F21D9CD-9825-C093-EF40-78C2E9F07D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56" y="6319351"/>
            <a:ext cx="2777984" cy="135423"/>
          </a:xfrm>
          <a:prstGeom prst="rect">
            <a:avLst/>
          </a:prstGeom>
        </p:spPr>
        <p:txBody>
          <a:bodyPr/>
          <a:lstStyle/>
          <a:p>
            <a:r>
              <a:rPr lang="en-US"/>
              <a:t>GLOBAL PRESENTATION TITLE</a:t>
            </a:r>
            <a:endParaRPr lang="en-CA" dirty="0"/>
          </a:p>
        </p:txBody>
      </p:sp>
      <p:sp>
        <p:nvSpPr>
          <p:cNvPr id="42" name="Slide Number Placeholder 19">
            <a:extLst>
              <a:ext uri="{FF2B5EF4-FFF2-40B4-BE49-F238E27FC236}">
                <a16:creationId xmlns:a16="http://schemas.microsoft.com/office/drawing/2014/main" id="{BF1C24EE-6591-087C-EEAE-87247909DFD5}"/>
              </a:ext>
            </a:extLst>
          </p:cNvPr>
          <p:cNvSpPr txBox="1">
            <a:spLocks/>
          </p:cNvSpPr>
          <p:nvPr userDrawn="1"/>
        </p:nvSpPr>
        <p:spPr>
          <a:xfrm>
            <a:off x="11529388" y="6321826"/>
            <a:ext cx="445887" cy="1329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A85A43-569C-4362-A1C0-54AB0F1D0D82}" type="slidenum">
              <a:rPr lang="en-CA" b="1" smtClean="0">
                <a:solidFill>
                  <a:schemeClr val="bg1"/>
                </a:solidFill>
              </a:rPr>
              <a:pPr algn="ctr"/>
              <a:t>‹#›</a:t>
            </a:fld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" name="hrSlideMaster.3 - ContentHeader" descr="                    ">
            <a:extLst>
              <a:ext uri="{FF2B5EF4-FFF2-40B4-BE49-F238E27FC236}">
                <a16:creationId xmlns:a16="http://schemas.microsoft.com/office/drawing/2014/main" id="{B33BEE86-1477-5C52-AE1D-63E6EE190906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421714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Content (Minimal Desig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green circle with black background&#10;&#10;Description automatically generated">
            <a:extLst>
              <a:ext uri="{FF2B5EF4-FFF2-40B4-BE49-F238E27FC236}">
                <a16:creationId xmlns:a16="http://schemas.microsoft.com/office/drawing/2014/main" id="{7EBA8BA1-DC3D-58EE-43F1-6E9E55429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22276"/>
            <a:ext cx="666784" cy="66678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BCAD27C-FB3F-4A3C-BEC3-3DC69D4628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6218" y="395275"/>
            <a:ext cx="10376714" cy="46827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800" spc="0"/>
            </a:lvl1pPr>
          </a:lstStyle>
          <a:p>
            <a:r>
              <a:rPr lang="en-US" dirty="0"/>
              <a:t>Content slide title</a:t>
            </a:r>
            <a:endParaRPr lang="en-CA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3F48586-3772-8FCC-AE74-B19EC5E5EE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6218" y="879450"/>
            <a:ext cx="10376714" cy="246136"/>
          </a:xfrm>
        </p:spPr>
        <p:txBody>
          <a:bodyPr>
            <a:noAutofit/>
          </a:bodyPr>
          <a:lstStyle>
            <a:lvl1pPr marL="0" indent="0" algn="l">
              <a:buNone/>
              <a:defRPr sz="13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SECTION HEADING TITLE</a:t>
            </a:r>
            <a:endParaRPr lang="en-CA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B8081BA-EBAD-B8A8-87F6-2576754AB8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4586" y="1432874"/>
            <a:ext cx="11268345" cy="4724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6" name="Slide Number Placeholder 19">
            <a:extLst>
              <a:ext uri="{FF2B5EF4-FFF2-40B4-BE49-F238E27FC236}">
                <a16:creationId xmlns:a16="http://schemas.microsoft.com/office/drawing/2014/main" id="{8A786287-6D8E-5C37-CED9-F0C75906CCBF}"/>
              </a:ext>
            </a:extLst>
          </p:cNvPr>
          <p:cNvSpPr txBox="1">
            <a:spLocks/>
          </p:cNvSpPr>
          <p:nvPr userDrawn="1"/>
        </p:nvSpPr>
        <p:spPr>
          <a:xfrm>
            <a:off x="11529388" y="6321826"/>
            <a:ext cx="445887" cy="1329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A85A43-569C-4362-A1C0-54AB0F1D0D82}" type="slidenum">
              <a:rPr lang="en-CA" b="1" smtClean="0">
                <a:solidFill>
                  <a:schemeClr val="tx1"/>
                </a:solidFill>
              </a:rPr>
              <a:pPr algn="ctr"/>
              <a:t>‹#›</a:t>
            </a:fld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2" name="hrSlideMaster.3 - Content (Minimal Design)Header" descr="                    ">
            <a:extLst>
              <a:ext uri="{FF2B5EF4-FFF2-40B4-BE49-F238E27FC236}">
                <a16:creationId xmlns:a16="http://schemas.microsoft.com/office/drawing/2014/main" id="{0F28D134-E483-E35A-DEC8-1359CD6A83A0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342591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a - Closing -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E00012-2BB5-AE3A-B360-E244CA7B21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" t="3323" r="1591" b="-3323"/>
          <a:stretch/>
        </p:blipFill>
        <p:spPr>
          <a:xfrm>
            <a:off x="5716989" y="1006003"/>
            <a:ext cx="6274800" cy="6274800"/>
          </a:xfrm>
          <a:prstGeom prst="flowChartConnector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06ED6-4372-38D4-8A7E-D012A1D713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619" y="1008281"/>
            <a:ext cx="4676598" cy="803841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5400" spc="0"/>
            </a:lvl1pPr>
          </a:lstStyle>
          <a:p>
            <a:r>
              <a:rPr lang="en-US" dirty="0"/>
              <a:t>Closing title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A5F7D-12A8-E8A4-93C4-63E8908B3B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619" y="1812122"/>
            <a:ext cx="4673647" cy="246136"/>
          </a:xfrm>
        </p:spPr>
        <p:txBody>
          <a:bodyPr>
            <a:normAutofit/>
          </a:bodyPr>
          <a:lstStyle>
            <a:lvl1pPr marL="0" indent="0" algn="l">
              <a:buNone/>
              <a:defRPr sz="16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CLOSING SUBTITLE HERE</a:t>
            </a:r>
            <a:endParaRPr lang="en-CA" dirty="0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E191DD3-61E3-6855-A8C1-BF847EE2DB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26" y="3328400"/>
            <a:ext cx="2226826" cy="66883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55E45D-F5F0-2662-5067-15630E387686}"/>
              </a:ext>
            </a:extLst>
          </p:cNvPr>
          <p:cNvCxnSpPr>
            <a:cxnSpLocks/>
          </p:cNvCxnSpPr>
          <p:nvPr userDrawn="1"/>
        </p:nvCxnSpPr>
        <p:spPr>
          <a:xfrm>
            <a:off x="1173582" y="4287268"/>
            <a:ext cx="0" cy="131234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2DE854-7D75-BC3C-8544-2227742CF992}"/>
              </a:ext>
            </a:extLst>
          </p:cNvPr>
          <p:cNvCxnSpPr>
            <a:cxnSpLocks/>
          </p:cNvCxnSpPr>
          <p:nvPr userDrawn="1"/>
        </p:nvCxnSpPr>
        <p:spPr>
          <a:xfrm>
            <a:off x="1246469" y="4356367"/>
            <a:ext cx="0" cy="1347747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715E4B5-203F-F7A8-C5F7-498D84165A81}"/>
              </a:ext>
            </a:extLst>
          </p:cNvPr>
          <p:cNvSpPr txBox="1"/>
          <p:nvPr userDrawn="1"/>
        </p:nvSpPr>
        <p:spPr>
          <a:xfrm>
            <a:off x="1523990" y="4362991"/>
            <a:ext cx="268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2100, 215 2nd Street SW</a:t>
            </a:r>
          </a:p>
          <a:p>
            <a:r>
              <a:rPr lang="en-US" sz="1200" dirty="0"/>
              <a:t>Calgary, AB Canada T2P 1M4</a:t>
            </a:r>
            <a:endParaRPr lang="en-CA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392A4-6DBC-20A5-4675-AD1621C2582A}"/>
              </a:ext>
            </a:extLst>
          </p:cNvPr>
          <p:cNvSpPr txBox="1"/>
          <p:nvPr userDrawn="1"/>
        </p:nvSpPr>
        <p:spPr>
          <a:xfrm>
            <a:off x="1523990" y="4943439"/>
            <a:ext cx="2682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403-269-2874</a:t>
            </a:r>
            <a:endParaRPr lang="en-CA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23587-F7EF-CC44-E343-C4F9F78ADE8C}"/>
              </a:ext>
            </a:extLst>
          </p:cNvPr>
          <p:cNvSpPr txBox="1"/>
          <p:nvPr userDrawn="1"/>
        </p:nvSpPr>
        <p:spPr>
          <a:xfrm>
            <a:off x="1497863" y="5309226"/>
            <a:ext cx="2682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pacific-canbriam</a:t>
            </a:r>
            <a:r>
              <a:rPr lang="en-US" sz="1600" b="1" dirty="0">
                <a:solidFill>
                  <a:schemeClr val="accent4"/>
                </a:solidFill>
              </a:rPr>
              <a:t>.ca</a:t>
            </a:r>
            <a:endParaRPr lang="en-CA" sz="1600" b="1" dirty="0">
              <a:solidFill>
                <a:schemeClr val="accent4"/>
              </a:solidFill>
            </a:endParaRPr>
          </a:p>
        </p:txBody>
      </p:sp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736D102F-35F3-3500-B64E-EED4C702D0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417" y="1006261"/>
            <a:ext cx="5640267" cy="5857200"/>
          </a:xfrm>
          <a:prstGeom prst="rect">
            <a:avLst/>
          </a:prstGeom>
        </p:spPr>
      </p:pic>
      <p:sp>
        <p:nvSpPr>
          <p:cNvPr id="4" name="hrSlideMaster.4a - Closing - PhotoHeader" descr="                    ">
            <a:extLst>
              <a:ext uri="{FF2B5EF4-FFF2-40B4-BE49-F238E27FC236}">
                <a16:creationId xmlns:a16="http://schemas.microsoft.com/office/drawing/2014/main" id="{A4ED0B1C-8824-4A0A-49C2-5C477BB84F35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147140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b - Closing -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6ED6-4372-38D4-8A7E-D012A1D713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1672" y="1008281"/>
            <a:ext cx="4676598" cy="803841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5400" spc="0"/>
            </a:lvl1pPr>
          </a:lstStyle>
          <a:p>
            <a:r>
              <a:rPr lang="en-US" dirty="0"/>
              <a:t>Closing title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A5F7D-12A8-E8A4-93C4-63E8908B3B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1672" y="1812122"/>
            <a:ext cx="4673647" cy="246136"/>
          </a:xfrm>
        </p:spPr>
        <p:txBody>
          <a:bodyPr>
            <a:normAutofit/>
          </a:bodyPr>
          <a:lstStyle>
            <a:lvl1pPr marL="0" indent="0" algn="l">
              <a:buNone/>
              <a:defRPr sz="1600" b="1" spc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ALL CAPS CLOSING SUBTITLE HERE</a:t>
            </a:r>
            <a:endParaRPr lang="en-CA" dirty="0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E191DD3-61E3-6855-A8C1-BF847EE2D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79" y="3328400"/>
            <a:ext cx="2226826" cy="66883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55E45D-F5F0-2662-5067-15630E387686}"/>
              </a:ext>
            </a:extLst>
          </p:cNvPr>
          <p:cNvCxnSpPr>
            <a:cxnSpLocks/>
          </p:cNvCxnSpPr>
          <p:nvPr userDrawn="1"/>
        </p:nvCxnSpPr>
        <p:spPr>
          <a:xfrm>
            <a:off x="1321635" y="4287268"/>
            <a:ext cx="0" cy="131234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2DE854-7D75-BC3C-8544-2227742CF992}"/>
              </a:ext>
            </a:extLst>
          </p:cNvPr>
          <p:cNvCxnSpPr>
            <a:cxnSpLocks/>
          </p:cNvCxnSpPr>
          <p:nvPr userDrawn="1"/>
        </p:nvCxnSpPr>
        <p:spPr>
          <a:xfrm>
            <a:off x="1394522" y="4356367"/>
            <a:ext cx="0" cy="1347747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9" name="Picture 8" descr="A colorful logo with black background&#10;&#10;Description automatically generated">
            <a:extLst>
              <a:ext uri="{FF2B5EF4-FFF2-40B4-BE49-F238E27FC236}">
                <a16:creationId xmlns:a16="http://schemas.microsoft.com/office/drawing/2014/main" id="{B4CA4CFF-EB98-B5FF-75E2-82E2C5C74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950" y="1201782"/>
            <a:ext cx="6500050" cy="56562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15E4B5-203F-F7A8-C5F7-498D84165A81}"/>
              </a:ext>
            </a:extLst>
          </p:cNvPr>
          <p:cNvSpPr txBox="1"/>
          <p:nvPr userDrawn="1"/>
        </p:nvSpPr>
        <p:spPr>
          <a:xfrm>
            <a:off x="1672043" y="4362991"/>
            <a:ext cx="268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2100, 215 2nd Street SW</a:t>
            </a:r>
          </a:p>
          <a:p>
            <a:r>
              <a:rPr lang="en-US" sz="1200" dirty="0"/>
              <a:t>Calgary, AB Canada T2P 1M4</a:t>
            </a:r>
            <a:endParaRPr lang="en-CA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392A4-6DBC-20A5-4675-AD1621C2582A}"/>
              </a:ext>
            </a:extLst>
          </p:cNvPr>
          <p:cNvSpPr txBox="1"/>
          <p:nvPr userDrawn="1"/>
        </p:nvSpPr>
        <p:spPr>
          <a:xfrm>
            <a:off x="1672043" y="4943439"/>
            <a:ext cx="2682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403-269-2874</a:t>
            </a:r>
            <a:endParaRPr lang="en-CA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23587-F7EF-CC44-E343-C4F9F78ADE8C}"/>
              </a:ext>
            </a:extLst>
          </p:cNvPr>
          <p:cNvSpPr txBox="1"/>
          <p:nvPr userDrawn="1"/>
        </p:nvSpPr>
        <p:spPr>
          <a:xfrm>
            <a:off x="1645916" y="5309226"/>
            <a:ext cx="2682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pacific-canbriam</a:t>
            </a:r>
            <a:r>
              <a:rPr lang="en-US" sz="1600" b="1" dirty="0">
                <a:solidFill>
                  <a:schemeClr val="accent4"/>
                </a:solidFill>
              </a:rPr>
              <a:t>.ca</a:t>
            </a:r>
            <a:endParaRPr lang="en-CA" sz="1600" b="1" dirty="0">
              <a:solidFill>
                <a:schemeClr val="accent4"/>
              </a:solidFill>
            </a:endParaRPr>
          </a:p>
        </p:txBody>
      </p:sp>
      <p:sp>
        <p:nvSpPr>
          <p:cNvPr id="4" name="hrSlideMaster.4b - Closing - LogoHeader" descr="                    ">
            <a:extLst>
              <a:ext uri="{FF2B5EF4-FFF2-40B4-BE49-F238E27FC236}">
                <a16:creationId xmlns:a16="http://schemas.microsoft.com/office/drawing/2014/main" id="{CD5F4239-1F90-5500-DD7D-3F5A178FC085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370738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Disclaim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21AD-2B03-AC77-E8AB-4EC5489C8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CA" dirty="0"/>
          </a:p>
        </p:txBody>
      </p:sp>
      <p:sp>
        <p:nvSpPr>
          <p:cNvPr id="7" name="Slide Number Placeholder 19">
            <a:extLst>
              <a:ext uri="{FF2B5EF4-FFF2-40B4-BE49-F238E27FC236}">
                <a16:creationId xmlns:a16="http://schemas.microsoft.com/office/drawing/2014/main" id="{69F756B9-DF97-E193-E6C1-B75FA3BB702C}"/>
              </a:ext>
            </a:extLst>
          </p:cNvPr>
          <p:cNvSpPr txBox="1">
            <a:spLocks/>
          </p:cNvSpPr>
          <p:nvPr userDrawn="1"/>
        </p:nvSpPr>
        <p:spPr>
          <a:xfrm>
            <a:off x="11529388" y="6321826"/>
            <a:ext cx="445887" cy="1329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A85A43-569C-4362-A1C0-54AB0F1D0D82}" type="slidenum">
              <a:rPr lang="en-CA" b="1" smtClean="0">
                <a:solidFill>
                  <a:schemeClr val="bg1"/>
                </a:solidFill>
              </a:rPr>
              <a:pPr algn="ctr"/>
              <a:t>‹#›</a:t>
            </a:fld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5" name="hrSlideMaster.5 - DisclaimerHeader" descr="                    ">
            <a:extLst>
              <a:ext uri="{FF2B5EF4-FFF2-40B4-BE49-F238E27FC236}">
                <a16:creationId xmlns:a16="http://schemas.microsoft.com/office/drawing/2014/main" id="{64558332-65ED-FD5F-70DA-9AF64BF79635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85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 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283298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019FD-83AA-60D8-5E91-57E9AC8E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86" y="365126"/>
            <a:ext cx="11444486" cy="60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62987-D275-0404-B695-0CD7E0EA9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586" y="1319753"/>
            <a:ext cx="11444486" cy="4857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12" name="Date Placeholder 35">
            <a:extLst>
              <a:ext uri="{FF2B5EF4-FFF2-40B4-BE49-F238E27FC236}">
                <a16:creationId xmlns:a16="http://schemas.microsoft.com/office/drawing/2014/main" id="{9EAD3BDE-BD18-CC14-FA25-95C0A4279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40805" y="6319350"/>
            <a:ext cx="5459760" cy="13542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1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GLOBAL PRESENTATION DATE OR SUBTITLE</a:t>
            </a:r>
            <a:endParaRPr lang="en-CA" dirty="0"/>
          </a:p>
        </p:txBody>
      </p:sp>
      <p:sp>
        <p:nvSpPr>
          <p:cNvPr id="13" name="Footer Placeholder 36">
            <a:extLst>
              <a:ext uri="{FF2B5EF4-FFF2-40B4-BE49-F238E27FC236}">
                <a16:creationId xmlns:a16="http://schemas.microsoft.com/office/drawing/2014/main" id="{0EF1AE6F-6F7D-C1AD-0B6C-F5D0DCF0F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4586" y="6319351"/>
            <a:ext cx="2777984" cy="135423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>
                <a:solidFill>
                  <a:schemeClr val="tx1"/>
                </a:solidFill>
              </a:defRPr>
            </a:lvl1pPr>
          </a:lstStyle>
          <a:p>
            <a:r>
              <a:rPr lang="en-US"/>
              <a:t>GLOBAL PRESENTATION TITLE</a:t>
            </a:r>
            <a:endParaRPr lang="en-CA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43482BD-D3AB-72BB-3874-3E9F599FB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9390" y="6306705"/>
            <a:ext cx="439681" cy="186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85A43-569C-4362-A1C0-54AB0F1D0D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818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4" r:id="rId4"/>
    <p:sldLayoutId id="2147483664" r:id="rId5"/>
    <p:sldLayoutId id="2147483663" r:id="rId6"/>
    <p:sldLayoutId id="2147483662" r:id="rId7"/>
    <p:sldLayoutId id="2147483665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Outfi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EBFB-2644-AD05-D01C-F86204A1F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62" y="2543956"/>
            <a:ext cx="6214319" cy="2770993"/>
          </a:xfrm>
        </p:spPr>
        <p:txBody>
          <a:bodyPr>
            <a:normAutofit/>
          </a:bodyPr>
          <a:lstStyle/>
          <a:p>
            <a:r>
              <a:rPr lang="en-CA" sz="5000" dirty="0"/>
              <a:t>Reservoir Production Integration System</a:t>
            </a:r>
            <a:br>
              <a:rPr lang="en-CA" dirty="0"/>
            </a:br>
            <a:r>
              <a:rPr lang="en-CA" sz="3000" dirty="0" err="1"/>
              <a:t>PCE_RE_Production_Update</a:t>
            </a:r>
            <a:r>
              <a:rPr lang="en-CA" sz="3000" dirty="0"/>
              <a:t> V2.9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C1EED-26BF-CF75-16AE-508C7F9DB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350" y="4678071"/>
            <a:ext cx="4673647" cy="921218"/>
          </a:xfrm>
        </p:spPr>
        <p:txBody>
          <a:bodyPr>
            <a:normAutofit/>
          </a:bodyPr>
          <a:lstStyle/>
          <a:p>
            <a:r>
              <a:rPr lang="en-CA" sz="1800" dirty="0"/>
              <a:t>DATE June 30</a:t>
            </a:r>
            <a:r>
              <a:rPr lang="en-CA" sz="1800" baseline="30000" dirty="0"/>
              <a:t>th</a:t>
            </a:r>
            <a:r>
              <a:rPr lang="en-CA" sz="1800" dirty="0"/>
              <a:t> , 2026</a:t>
            </a:r>
          </a:p>
        </p:txBody>
      </p:sp>
    </p:spTree>
    <p:extLst>
      <p:ext uri="{BB962C8B-B14F-4D97-AF65-F5344CB8AC3E}">
        <p14:creationId xmlns:p14="http://schemas.microsoft.com/office/powerpoint/2010/main" val="2833119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3AA87-5A54-566C-17CD-71D251E307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What Production was at PCE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6C22C-B3A0-863D-D22F-2D466C0D0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2BD2F-D18A-6FF4-146F-D8ACC702B8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48860" y="1356624"/>
            <a:ext cx="11541720" cy="5352684"/>
          </a:xfrm>
        </p:spPr>
        <p:txBody>
          <a:bodyPr>
            <a:normAutofit/>
          </a:bodyPr>
          <a:lstStyle/>
          <a:p>
            <a:endParaRPr lang="en-CA" b="1" dirty="0"/>
          </a:p>
          <a:p>
            <a:pPr lvl="2"/>
            <a:endParaRPr lang="en-CA" b="1" dirty="0"/>
          </a:p>
          <a:p>
            <a:pPr lvl="1"/>
            <a:endParaRPr lang="en-CA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6DDA79-DA2A-FF11-7E1B-E21077394D69}"/>
              </a:ext>
            </a:extLst>
          </p:cNvPr>
          <p:cNvSpPr/>
          <p:nvPr/>
        </p:nvSpPr>
        <p:spPr>
          <a:xfrm>
            <a:off x="61716" y="1530514"/>
            <a:ext cx="1749392" cy="14969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Production.xlsm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599BB3-9C54-F3CF-8B78-D3042013D60E}"/>
              </a:ext>
            </a:extLst>
          </p:cNvPr>
          <p:cNvSpPr/>
          <p:nvPr/>
        </p:nvSpPr>
        <p:spPr>
          <a:xfrm>
            <a:off x="2300793" y="1404000"/>
            <a:ext cx="1528762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Chart Data Altares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E62ECC-0F1E-79EC-7B82-69059A3D6360}"/>
              </a:ext>
            </a:extLst>
          </p:cNvPr>
          <p:cNvSpPr/>
          <p:nvPr/>
        </p:nvSpPr>
        <p:spPr>
          <a:xfrm>
            <a:off x="6445285" y="1307007"/>
            <a:ext cx="1528762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PV Raw Data Link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294F26-BD52-9850-F1E2-4E61293C7872}"/>
              </a:ext>
            </a:extLst>
          </p:cNvPr>
          <p:cNvSpPr/>
          <p:nvPr/>
        </p:nvSpPr>
        <p:spPr>
          <a:xfrm>
            <a:off x="8230202" y="2707160"/>
            <a:ext cx="1528762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McD</a:t>
            </a:r>
            <a:r>
              <a:rPr lang="en-CA" dirty="0"/>
              <a:t> Type Curves Monthly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D11BD3-C648-00F6-E561-25B6AC80C91F}"/>
              </a:ext>
            </a:extLst>
          </p:cNvPr>
          <p:cNvSpPr/>
          <p:nvPr/>
        </p:nvSpPr>
        <p:spPr>
          <a:xfrm>
            <a:off x="6514812" y="3548384"/>
            <a:ext cx="1528762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Wellid</a:t>
            </a:r>
            <a:endParaRPr lang="en-CA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AD5F8C-5ACF-8D87-BDC6-BC3EBDDC5858}"/>
              </a:ext>
            </a:extLst>
          </p:cNvPr>
          <p:cNvSpPr/>
          <p:nvPr/>
        </p:nvSpPr>
        <p:spPr>
          <a:xfrm>
            <a:off x="2407853" y="4984526"/>
            <a:ext cx="1647824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Allocation Factors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70E2AA-36FB-938E-30D9-5F86884D9177}"/>
              </a:ext>
            </a:extLst>
          </p:cNvPr>
          <p:cNvGrpSpPr/>
          <p:nvPr/>
        </p:nvGrpSpPr>
        <p:grpSpPr>
          <a:xfrm>
            <a:off x="4485010" y="2910212"/>
            <a:ext cx="1121579" cy="1201762"/>
            <a:chOff x="2095499" y="2643550"/>
            <a:chExt cx="1647825" cy="1726045"/>
          </a:xfrm>
        </p:grpSpPr>
        <p:pic>
          <p:nvPicPr>
            <p:cNvPr id="14" name="Graphic 13" descr="Man carrying laptop">
              <a:extLst>
                <a:ext uri="{FF2B5EF4-FFF2-40B4-BE49-F238E27FC236}">
                  <a16:creationId xmlns:a16="http://schemas.microsoft.com/office/drawing/2014/main" id="{6FCCCD15-8467-D702-3740-594DD47BB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95499" y="3131345"/>
              <a:ext cx="1647825" cy="1238250"/>
            </a:xfrm>
            <a:prstGeom prst="rect">
              <a:avLst/>
            </a:prstGeom>
          </p:spPr>
        </p:pic>
        <p:pic>
          <p:nvPicPr>
            <p:cNvPr id="16" name="Graphic 15" descr="Child with wavy hair">
              <a:extLst>
                <a:ext uri="{FF2B5EF4-FFF2-40B4-BE49-F238E27FC236}">
                  <a16:creationId xmlns:a16="http://schemas.microsoft.com/office/drawing/2014/main" id="{1148C8F7-7502-6A1E-DAA9-5C20DEC45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68125" y="2643550"/>
              <a:ext cx="647700" cy="72390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BF167FB-7553-82E1-98D6-513004B0D4B7}"/>
              </a:ext>
            </a:extLst>
          </p:cNvPr>
          <p:cNvSpPr/>
          <p:nvPr/>
        </p:nvSpPr>
        <p:spPr>
          <a:xfrm>
            <a:off x="1506829" y="3461287"/>
            <a:ext cx="892969" cy="485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VBA Scripts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250F42-B8CE-85E4-7485-D103A494C1AE}"/>
              </a:ext>
            </a:extLst>
          </p:cNvPr>
          <p:cNvSpPr/>
          <p:nvPr/>
        </p:nvSpPr>
        <p:spPr>
          <a:xfrm>
            <a:off x="2695457" y="4366160"/>
            <a:ext cx="892969" cy="485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VBA Scripts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021F21-94EA-6810-8EAE-737BBAE87C7D}"/>
              </a:ext>
            </a:extLst>
          </p:cNvPr>
          <p:cNvSpPr/>
          <p:nvPr/>
        </p:nvSpPr>
        <p:spPr>
          <a:xfrm>
            <a:off x="4640663" y="1497020"/>
            <a:ext cx="892969" cy="485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VBA Scripts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B8645-5FF1-2F94-83F9-BCF6BA031EED}"/>
              </a:ext>
            </a:extLst>
          </p:cNvPr>
          <p:cNvSpPr/>
          <p:nvPr/>
        </p:nvSpPr>
        <p:spPr>
          <a:xfrm>
            <a:off x="6171911" y="5509438"/>
            <a:ext cx="892969" cy="485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VBA Scripts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30B481-676F-9CA0-EFBA-13FA9F5403D5}"/>
              </a:ext>
            </a:extLst>
          </p:cNvPr>
          <p:cNvSpPr txBox="1"/>
          <p:nvPr/>
        </p:nvSpPr>
        <p:spPr>
          <a:xfrm>
            <a:off x="8213682" y="1387479"/>
            <a:ext cx="3978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process used to take up to 3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spreadsheets were overflowing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Loading, opening, and updating  dashboards took up to 1 hour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C29053-E3BD-6A3E-C578-9FD5FFD2BCAB}"/>
              </a:ext>
            </a:extLst>
          </p:cNvPr>
          <p:cNvCxnSpPr>
            <a:cxnSpLocks/>
            <a:stCxn id="18" idx="0"/>
            <a:endCxn id="5" idx="5"/>
          </p:cNvCxnSpPr>
          <p:nvPr/>
        </p:nvCxnSpPr>
        <p:spPr>
          <a:xfrm flipH="1" flipV="1">
            <a:off x="1554915" y="2808225"/>
            <a:ext cx="398399" cy="65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5ED0CB8-9DAA-AE05-DF66-EE4602297F3A}"/>
              </a:ext>
            </a:extLst>
          </p:cNvPr>
          <p:cNvCxnSpPr>
            <a:cxnSpLocks/>
            <a:stCxn id="9" idx="6"/>
            <a:endCxn id="8" idx="3"/>
          </p:cNvCxnSpPr>
          <p:nvPr/>
        </p:nvCxnSpPr>
        <p:spPr>
          <a:xfrm flipV="1">
            <a:off x="8043574" y="3883991"/>
            <a:ext cx="410510" cy="35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08620A3-4CF1-9768-D9EC-0CA5CA05119D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 flipV="1">
            <a:off x="1811108" y="2278980"/>
            <a:ext cx="6419094" cy="11175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A860F873-E318-A5C4-D75F-F8DB7719D7D0}"/>
              </a:ext>
            </a:extLst>
          </p:cNvPr>
          <p:cNvSpPr/>
          <p:nvPr/>
        </p:nvSpPr>
        <p:spPr>
          <a:xfrm>
            <a:off x="619521" y="4032966"/>
            <a:ext cx="1647824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Valnav</a:t>
            </a:r>
            <a:r>
              <a:rPr lang="en-CA" dirty="0"/>
              <a:t> excel file  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B23C4D9-E348-8756-F612-AE4C1BA06A79}"/>
              </a:ext>
            </a:extLst>
          </p:cNvPr>
          <p:cNvCxnSpPr>
            <a:cxnSpLocks/>
            <a:stCxn id="83" idx="6"/>
            <a:endCxn id="20" idx="1"/>
          </p:cNvCxnSpPr>
          <p:nvPr/>
        </p:nvCxnSpPr>
        <p:spPr>
          <a:xfrm flipV="1">
            <a:off x="2267345" y="4609048"/>
            <a:ext cx="428112" cy="1132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2548F42-075D-6B43-CF1B-07179485B753}"/>
              </a:ext>
            </a:extLst>
          </p:cNvPr>
          <p:cNvCxnSpPr>
            <a:cxnSpLocks/>
            <a:stCxn id="10" idx="1"/>
            <a:endCxn id="20" idx="1"/>
          </p:cNvCxnSpPr>
          <p:nvPr/>
        </p:nvCxnSpPr>
        <p:spPr>
          <a:xfrm flipV="1">
            <a:off x="2649171" y="4609048"/>
            <a:ext cx="46286" cy="5773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93D9BD2-3ED2-E53E-6637-4BA04674F258}"/>
              </a:ext>
            </a:extLst>
          </p:cNvPr>
          <p:cNvCxnSpPr>
            <a:cxnSpLocks/>
            <a:stCxn id="18" idx="0"/>
            <a:endCxn id="6" idx="3"/>
          </p:cNvCxnSpPr>
          <p:nvPr/>
        </p:nvCxnSpPr>
        <p:spPr>
          <a:xfrm flipV="1">
            <a:off x="1953314" y="2580831"/>
            <a:ext cx="571361" cy="880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695B8D1-0AE1-6A34-DF4B-C32C31680508}"/>
              </a:ext>
            </a:extLst>
          </p:cNvPr>
          <p:cNvCxnSpPr>
            <a:cxnSpLocks/>
            <a:stCxn id="22" idx="3"/>
            <a:endCxn id="7" idx="2"/>
          </p:cNvCxnSpPr>
          <p:nvPr/>
        </p:nvCxnSpPr>
        <p:spPr>
          <a:xfrm>
            <a:off x="5533632" y="1739908"/>
            <a:ext cx="911653" cy="256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1DA4263-7F4D-0DC0-B38A-CEA894A07234}"/>
              </a:ext>
            </a:extLst>
          </p:cNvPr>
          <p:cNvCxnSpPr>
            <a:cxnSpLocks/>
            <a:stCxn id="22" idx="1"/>
            <a:endCxn id="6" idx="6"/>
          </p:cNvCxnSpPr>
          <p:nvPr/>
        </p:nvCxnSpPr>
        <p:spPr>
          <a:xfrm flipH="1">
            <a:off x="3829555" y="1739908"/>
            <a:ext cx="811108" cy="353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FBC829F0-C8FD-8814-A6B3-6EC543AB7BBA}"/>
              </a:ext>
            </a:extLst>
          </p:cNvPr>
          <p:cNvSpPr/>
          <p:nvPr/>
        </p:nvSpPr>
        <p:spPr>
          <a:xfrm>
            <a:off x="4216687" y="5010334"/>
            <a:ext cx="1746628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Directional Surveys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7878E0-A712-7CF7-0694-AB4238AB5E0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1811108" y="1996379"/>
            <a:ext cx="4634177" cy="282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61FB40D0-987D-0002-C086-954A3B10AFE6}"/>
              </a:ext>
            </a:extLst>
          </p:cNvPr>
          <p:cNvSpPr/>
          <p:nvPr/>
        </p:nvSpPr>
        <p:spPr>
          <a:xfrm>
            <a:off x="7174017" y="4932523"/>
            <a:ext cx="1647824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Public Sales  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4628497-A41E-10E7-6D2E-390D1062C56D}"/>
              </a:ext>
            </a:extLst>
          </p:cNvPr>
          <p:cNvCxnSpPr>
            <a:cxnSpLocks/>
            <a:stCxn id="30" idx="3"/>
            <a:endCxn id="138" idx="2"/>
          </p:cNvCxnSpPr>
          <p:nvPr/>
        </p:nvCxnSpPr>
        <p:spPr>
          <a:xfrm flipV="1">
            <a:off x="7064880" y="5621895"/>
            <a:ext cx="109137" cy="130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F52A8FC-B2AC-54BE-41CE-C3F90CFD4524}"/>
              </a:ext>
            </a:extLst>
          </p:cNvPr>
          <p:cNvCxnSpPr>
            <a:cxnSpLocks/>
            <a:stCxn id="30" idx="1"/>
            <a:endCxn id="5" idx="4"/>
          </p:cNvCxnSpPr>
          <p:nvPr/>
        </p:nvCxnSpPr>
        <p:spPr>
          <a:xfrm flipH="1" flipV="1">
            <a:off x="936412" y="3027445"/>
            <a:ext cx="5235499" cy="27248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4D57C96A-A85F-0A8C-C2AC-CA5F9DE6B510}"/>
              </a:ext>
            </a:extLst>
          </p:cNvPr>
          <p:cNvSpPr/>
          <p:nvPr/>
        </p:nvSpPr>
        <p:spPr>
          <a:xfrm>
            <a:off x="8685928" y="4108432"/>
            <a:ext cx="1528762" cy="137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Additional VBA Scripts Being edited and Added as needed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48EB49B-7BE4-D156-FD95-83A1FFD2BA06}"/>
              </a:ext>
            </a:extLst>
          </p:cNvPr>
          <p:cNvSpPr txBox="1"/>
          <p:nvPr/>
        </p:nvSpPr>
        <p:spPr>
          <a:xfrm>
            <a:off x="668215" y="6389077"/>
            <a:ext cx="943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…However, this is the foundation of the OOP and ER simplified model that is now implemented</a:t>
            </a: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2AB4B285-3DB9-2620-C6B5-86BCE581A08E}"/>
              </a:ext>
            </a:extLst>
          </p:cNvPr>
          <p:cNvSpPr/>
          <p:nvPr/>
        </p:nvSpPr>
        <p:spPr>
          <a:xfrm rot="18488501">
            <a:off x="3890157" y="2356414"/>
            <a:ext cx="331041" cy="9036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E0A16914-5B51-0AD7-C560-D5A0D33876D2}"/>
              </a:ext>
            </a:extLst>
          </p:cNvPr>
          <p:cNvSpPr/>
          <p:nvPr/>
        </p:nvSpPr>
        <p:spPr>
          <a:xfrm rot="3468581">
            <a:off x="5796517" y="2177395"/>
            <a:ext cx="249533" cy="1053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C03F90C4-E49A-C1B1-AE0F-5DD75EE2C1AB}"/>
              </a:ext>
            </a:extLst>
          </p:cNvPr>
          <p:cNvSpPr/>
          <p:nvPr/>
        </p:nvSpPr>
        <p:spPr>
          <a:xfrm rot="13096449">
            <a:off x="3985484" y="4218480"/>
            <a:ext cx="329082" cy="9703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FE09D76A-8CC1-6BE8-4390-D8ABE4EFAE90}"/>
              </a:ext>
            </a:extLst>
          </p:cNvPr>
          <p:cNvSpPr/>
          <p:nvPr/>
        </p:nvSpPr>
        <p:spPr>
          <a:xfrm rot="5987359">
            <a:off x="6031422" y="3551593"/>
            <a:ext cx="278065" cy="717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72DC210A-3666-F33A-6B17-1B03CF7CA277}"/>
              </a:ext>
            </a:extLst>
          </p:cNvPr>
          <p:cNvSpPr/>
          <p:nvPr/>
        </p:nvSpPr>
        <p:spPr>
          <a:xfrm rot="10800000">
            <a:off x="4903051" y="4467879"/>
            <a:ext cx="200197" cy="492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8" name="Arrow: Down 237">
            <a:extLst>
              <a:ext uri="{FF2B5EF4-FFF2-40B4-BE49-F238E27FC236}">
                <a16:creationId xmlns:a16="http://schemas.microsoft.com/office/drawing/2014/main" id="{622C3C06-41C5-04C5-E44B-480035C949CA}"/>
              </a:ext>
            </a:extLst>
          </p:cNvPr>
          <p:cNvSpPr/>
          <p:nvPr/>
        </p:nvSpPr>
        <p:spPr>
          <a:xfrm rot="17406577">
            <a:off x="2828592" y="1814797"/>
            <a:ext cx="255310" cy="24490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9" name="Arrow: Down 238">
            <a:extLst>
              <a:ext uri="{FF2B5EF4-FFF2-40B4-BE49-F238E27FC236}">
                <a16:creationId xmlns:a16="http://schemas.microsoft.com/office/drawing/2014/main" id="{9B9D1180-0F8B-3B85-0C30-F902E833DB92}"/>
              </a:ext>
            </a:extLst>
          </p:cNvPr>
          <p:cNvSpPr/>
          <p:nvPr/>
        </p:nvSpPr>
        <p:spPr>
          <a:xfrm rot="4747772">
            <a:off x="6663928" y="2151783"/>
            <a:ext cx="252973" cy="20767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1" name="Arrow: Down 250">
            <a:extLst>
              <a:ext uri="{FF2B5EF4-FFF2-40B4-BE49-F238E27FC236}">
                <a16:creationId xmlns:a16="http://schemas.microsoft.com/office/drawing/2014/main" id="{ADA8713A-CC8F-5170-024B-AEDF379D5A73}"/>
              </a:ext>
            </a:extLst>
          </p:cNvPr>
          <p:cNvSpPr/>
          <p:nvPr/>
        </p:nvSpPr>
        <p:spPr>
          <a:xfrm rot="15568411">
            <a:off x="3066907" y="3082751"/>
            <a:ext cx="297783" cy="1955888"/>
          </a:xfrm>
          <a:prstGeom prst="downArrow">
            <a:avLst>
              <a:gd name="adj1" fmla="val 50000"/>
              <a:gd name="adj2" fmla="val 542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" name="Arrow: Down 255">
            <a:extLst>
              <a:ext uri="{FF2B5EF4-FFF2-40B4-BE49-F238E27FC236}">
                <a16:creationId xmlns:a16="http://schemas.microsoft.com/office/drawing/2014/main" id="{BB86E880-F63B-AC9F-4162-38FF845E86F6}"/>
              </a:ext>
            </a:extLst>
          </p:cNvPr>
          <p:cNvSpPr/>
          <p:nvPr/>
        </p:nvSpPr>
        <p:spPr>
          <a:xfrm rot="7388592">
            <a:off x="6227342" y="3809220"/>
            <a:ext cx="289822" cy="20065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92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81B2-582F-7D3A-D355-D5BF5CF64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068" y="226089"/>
            <a:ext cx="10376714" cy="468273"/>
          </a:xfrm>
        </p:spPr>
        <p:txBody>
          <a:bodyPr/>
          <a:lstStyle/>
          <a:p>
            <a:r>
              <a:rPr lang="en-CA" sz="3600" dirty="0"/>
              <a:t>PCE Production Block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C3DD-4745-2001-477C-80603CD775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8B6D5-86BA-CA82-4063-5DB0CD0B92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34" y="1482163"/>
            <a:ext cx="2336600" cy="5914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sz="2000" dirty="0"/>
              <a:t>ProdView/Snowflake</a:t>
            </a:r>
          </a:p>
          <a:p>
            <a:pPr marL="0" indent="0">
              <a:buNone/>
            </a:pPr>
            <a:r>
              <a:rPr lang="en-CA" sz="2000" dirty="0"/>
              <a:t>Well Master, Ratios, NGLs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A5C3B7-F5C3-05AA-D13E-F5AAC478AE0C}"/>
              </a:ext>
            </a:extLst>
          </p:cNvPr>
          <p:cNvSpPr/>
          <p:nvPr/>
        </p:nvSpPr>
        <p:spPr>
          <a:xfrm>
            <a:off x="507428" y="1454093"/>
            <a:ext cx="2455606" cy="68743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5431D2-93E1-1D08-1EAC-A8A178E42C60}"/>
              </a:ext>
            </a:extLst>
          </p:cNvPr>
          <p:cNvSpPr txBox="1">
            <a:spLocks/>
          </p:cNvSpPr>
          <p:nvPr/>
        </p:nvSpPr>
        <p:spPr>
          <a:xfrm>
            <a:off x="472819" y="2508716"/>
            <a:ext cx="2455606" cy="637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Production Accounting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Excel import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7B8FE-ABD6-D318-7D2C-E01282173C63}"/>
              </a:ext>
            </a:extLst>
          </p:cNvPr>
          <p:cNvSpPr/>
          <p:nvPr/>
        </p:nvSpPr>
        <p:spPr>
          <a:xfrm>
            <a:off x="507428" y="2420112"/>
            <a:ext cx="2455606" cy="7479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BF5C45-B95B-565F-697A-AB8AAE1E983E}"/>
              </a:ext>
            </a:extLst>
          </p:cNvPr>
          <p:cNvSpPr/>
          <p:nvPr/>
        </p:nvSpPr>
        <p:spPr>
          <a:xfrm>
            <a:off x="507428" y="3446666"/>
            <a:ext cx="2455606" cy="7479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8E03401-7CF5-8703-E24E-28B32B159056}"/>
              </a:ext>
            </a:extLst>
          </p:cNvPr>
          <p:cNvSpPr txBox="1">
            <a:spLocks/>
          </p:cNvSpPr>
          <p:nvPr/>
        </p:nvSpPr>
        <p:spPr>
          <a:xfrm>
            <a:off x="472818" y="3453801"/>
            <a:ext cx="2386977" cy="747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Directional Surveys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sz="2000" dirty="0" err="1"/>
              <a:t>Accumap</a:t>
            </a:r>
            <a:r>
              <a:rPr lang="en-CA" sz="2000" dirty="0"/>
              <a:t> Import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EE665-1205-FE80-2A83-B8E5363DAAF9}"/>
              </a:ext>
            </a:extLst>
          </p:cNvPr>
          <p:cNvSpPr/>
          <p:nvPr/>
        </p:nvSpPr>
        <p:spPr>
          <a:xfrm>
            <a:off x="507428" y="4496166"/>
            <a:ext cx="2455606" cy="7479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7B5B01D-96F9-83BA-B389-CEC803E16240}"/>
              </a:ext>
            </a:extLst>
          </p:cNvPr>
          <p:cNvSpPr txBox="1">
            <a:spLocks/>
          </p:cNvSpPr>
          <p:nvPr/>
        </p:nvSpPr>
        <p:spPr>
          <a:xfrm>
            <a:off x="472818" y="4496166"/>
            <a:ext cx="2386977" cy="747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Type curves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sz="2000" dirty="0" err="1"/>
              <a:t>McD</a:t>
            </a:r>
            <a:r>
              <a:rPr lang="en-CA" sz="2000" dirty="0"/>
              <a:t>, PCE, Models (Excel)</a:t>
            </a:r>
          </a:p>
        </p:txBody>
      </p:sp>
      <p:sp>
        <p:nvSpPr>
          <p:cNvPr id="19" name="Flowchart: Magnetic Disk 18">
            <a:extLst>
              <a:ext uri="{FF2B5EF4-FFF2-40B4-BE49-F238E27FC236}">
                <a16:creationId xmlns:a16="http://schemas.microsoft.com/office/drawing/2014/main" id="{70C78A36-E37C-2949-A158-8C938661389F}"/>
              </a:ext>
            </a:extLst>
          </p:cNvPr>
          <p:cNvSpPr/>
          <p:nvPr/>
        </p:nvSpPr>
        <p:spPr>
          <a:xfrm>
            <a:off x="5148232" y="5384806"/>
            <a:ext cx="2054214" cy="1393848"/>
          </a:xfrm>
          <a:prstGeom prst="flowChartMagneticDisk">
            <a:avLst/>
          </a:prstGeom>
          <a:solidFill>
            <a:schemeClr val="bg2">
              <a:lumMod val="9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2D99948E-E3B2-64EA-6AA8-7A7D9285A93F}"/>
              </a:ext>
            </a:extLst>
          </p:cNvPr>
          <p:cNvSpPr txBox="1">
            <a:spLocks/>
          </p:cNvSpPr>
          <p:nvPr/>
        </p:nvSpPr>
        <p:spPr>
          <a:xfrm>
            <a:off x="5320977" y="6338806"/>
            <a:ext cx="1881469" cy="448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SQL Server DB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F18AE19-82C4-3742-354F-48E659E07C3D}"/>
              </a:ext>
            </a:extLst>
          </p:cNvPr>
          <p:cNvSpPr txBox="1">
            <a:spLocks/>
          </p:cNvSpPr>
          <p:nvPr/>
        </p:nvSpPr>
        <p:spPr>
          <a:xfrm>
            <a:off x="5148232" y="5985611"/>
            <a:ext cx="1984708" cy="3146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 err="1"/>
              <a:t>RE_Main_Production</a:t>
            </a:r>
            <a:endParaRPr lang="en-CA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653794-259C-19C1-DD67-6CB90ADB3D3F}"/>
              </a:ext>
            </a:extLst>
          </p:cNvPr>
          <p:cNvSpPr/>
          <p:nvPr/>
        </p:nvSpPr>
        <p:spPr>
          <a:xfrm>
            <a:off x="507428" y="5556946"/>
            <a:ext cx="2455606" cy="7479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5805B6F-87DC-0A32-1512-EE31D0C025F1}"/>
              </a:ext>
            </a:extLst>
          </p:cNvPr>
          <p:cNvSpPr txBox="1">
            <a:spLocks/>
          </p:cNvSpPr>
          <p:nvPr/>
        </p:nvSpPr>
        <p:spPr>
          <a:xfrm>
            <a:off x="472818" y="5590589"/>
            <a:ext cx="2386977" cy="74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PCE Monthly Forecast (</a:t>
            </a:r>
            <a:r>
              <a:rPr lang="en-CA" sz="2000" dirty="0" err="1"/>
              <a:t>Valnav</a:t>
            </a:r>
            <a:r>
              <a:rPr lang="en-CA" sz="2000" dirty="0"/>
              <a:t>)</a:t>
            </a:r>
          </a:p>
        </p:txBody>
      </p:sp>
      <p:sp>
        <p:nvSpPr>
          <p:cNvPr id="34" name="Flowchart: Multidocument 33">
            <a:extLst>
              <a:ext uri="{FF2B5EF4-FFF2-40B4-BE49-F238E27FC236}">
                <a16:creationId xmlns:a16="http://schemas.microsoft.com/office/drawing/2014/main" id="{81DDDCBA-2F4E-416C-CF14-F7E5BCFFA90B}"/>
              </a:ext>
            </a:extLst>
          </p:cNvPr>
          <p:cNvSpPr/>
          <p:nvPr/>
        </p:nvSpPr>
        <p:spPr>
          <a:xfrm>
            <a:off x="9387645" y="1447216"/>
            <a:ext cx="1858297" cy="993850"/>
          </a:xfrm>
          <a:prstGeom prst="flowChartMulti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4FFABF4B-374A-4F7D-BB64-A971BEA904A4}"/>
              </a:ext>
            </a:extLst>
          </p:cNvPr>
          <p:cNvSpPr txBox="1">
            <a:spLocks/>
          </p:cNvSpPr>
          <p:nvPr/>
        </p:nvSpPr>
        <p:spPr>
          <a:xfrm>
            <a:off x="9387645" y="1694098"/>
            <a:ext cx="1495310" cy="591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/>
              <a:t>Main PCE Production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/>
              <a:t>RTDs, RTC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D9F3FA96-5E28-B42C-3DAC-7FCCD4A0A328}"/>
              </a:ext>
            </a:extLst>
          </p:cNvPr>
          <p:cNvSpPr txBox="1">
            <a:spLocks/>
          </p:cNvSpPr>
          <p:nvPr/>
        </p:nvSpPr>
        <p:spPr>
          <a:xfrm>
            <a:off x="9068020" y="1027849"/>
            <a:ext cx="2497546" cy="35754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000" dirty="0"/>
              <a:t>Spotfire Dashboards</a:t>
            </a:r>
          </a:p>
        </p:txBody>
      </p:sp>
      <p:sp>
        <p:nvSpPr>
          <p:cNvPr id="37" name="Flowchart: Multidocument 36">
            <a:extLst>
              <a:ext uri="{FF2B5EF4-FFF2-40B4-BE49-F238E27FC236}">
                <a16:creationId xmlns:a16="http://schemas.microsoft.com/office/drawing/2014/main" id="{E017C9AE-6904-BFA7-FA6D-1DEA7EE1026F}"/>
              </a:ext>
            </a:extLst>
          </p:cNvPr>
          <p:cNvSpPr/>
          <p:nvPr/>
        </p:nvSpPr>
        <p:spPr>
          <a:xfrm>
            <a:off x="9387645" y="2564716"/>
            <a:ext cx="1858297" cy="993850"/>
          </a:xfrm>
          <a:prstGeom prst="flowChartMulti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88DA9615-3D4A-3610-DE6F-B15491DCB2ED}"/>
              </a:ext>
            </a:extLst>
          </p:cNvPr>
          <p:cNvSpPr txBox="1">
            <a:spLocks/>
          </p:cNvSpPr>
          <p:nvPr/>
        </p:nvSpPr>
        <p:spPr>
          <a:xfrm>
            <a:off x="9387645" y="2811598"/>
            <a:ext cx="1495310" cy="591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/>
              <a:t>Production Performance Field Communication</a:t>
            </a:r>
          </a:p>
        </p:txBody>
      </p:sp>
      <p:sp>
        <p:nvSpPr>
          <p:cNvPr id="39" name="Flowchart: Multidocument 38">
            <a:extLst>
              <a:ext uri="{FF2B5EF4-FFF2-40B4-BE49-F238E27FC236}">
                <a16:creationId xmlns:a16="http://schemas.microsoft.com/office/drawing/2014/main" id="{3C405ECF-FCF4-F5D5-0C49-7A7FE29A2142}"/>
              </a:ext>
            </a:extLst>
          </p:cNvPr>
          <p:cNvSpPr/>
          <p:nvPr/>
        </p:nvSpPr>
        <p:spPr>
          <a:xfrm>
            <a:off x="9387645" y="3773044"/>
            <a:ext cx="1858297" cy="993850"/>
          </a:xfrm>
          <a:prstGeom prst="flowChartMulti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2312C21B-737D-B8FC-1940-0281CC4558E0}"/>
              </a:ext>
            </a:extLst>
          </p:cNvPr>
          <p:cNvSpPr txBox="1">
            <a:spLocks/>
          </p:cNvSpPr>
          <p:nvPr/>
        </p:nvSpPr>
        <p:spPr>
          <a:xfrm>
            <a:off x="9387645" y="4019926"/>
            <a:ext cx="1495310" cy="591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/>
              <a:t>PCE Monthly Forecast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73F789CF-F26A-A657-5FE8-DA313EBCF389}"/>
              </a:ext>
            </a:extLst>
          </p:cNvPr>
          <p:cNvSpPr txBox="1">
            <a:spLocks/>
          </p:cNvSpPr>
          <p:nvPr/>
        </p:nvSpPr>
        <p:spPr>
          <a:xfrm>
            <a:off x="5399231" y="5498302"/>
            <a:ext cx="1495310" cy="4487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b="1" dirty="0"/>
              <a:t>CALVMSQL01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AD1F4C-3B61-B846-3A32-5D925CA48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525" y="1283727"/>
            <a:ext cx="4098846" cy="397062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0" name="Flowchart: Multidocument 29">
            <a:extLst>
              <a:ext uri="{FF2B5EF4-FFF2-40B4-BE49-F238E27FC236}">
                <a16:creationId xmlns:a16="http://schemas.microsoft.com/office/drawing/2014/main" id="{D2ED902C-EBA4-7CEF-1D22-E4C6CDB2D965}"/>
              </a:ext>
            </a:extLst>
          </p:cNvPr>
          <p:cNvSpPr/>
          <p:nvPr/>
        </p:nvSpPr>
        <p:spPr>
          <a:xfrm>
            <a:off x="9387645" y="4937081"/>
            <a:ext cx="1858297" cy="993850"/>
          </a:xfrm>
          <a:prstGeom prst="flowChartMulti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CA3F28C1-6CDA-F3A0-4450-C871F4731DB3}"/>
              </a:ext>
            </a:extLst>
          </p:cNvPr>
          <p:cNvSpPr txBox="1">
            <a:spLocks/>
          </p:cNvSpPr>
          <p:nvPr/>
        </p:nvSpPr>
        <p:spPr>
          <a:xfrm>
            <a:off x="9387645" y="5183963"/>
            <a:ext cx="1495310" cy="591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/>
              <a:t>Whitson/ Harmony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CA" sz="2000" dirty="0"/>
              <a:t>Automatic Update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548009E-4700-08E7-C68A-725BA3524CE0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>
            <a:off x="2963034" y="1797811"/>
            <a:ext cx="1189491" cy="14712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56243B9-6D6D-2535-59A8-3DE975F7AF66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2963034" y="2794097"/>
            <a:ext cx="1189491" cy="4749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5515FDA-E426-1BDE-96D3-4ED00B8EF8C6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2963034" y="3269039"/>
            <a:ext cx="1189491" cy="5516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EC2FEC9-1D4F-B15D-1A86-34D069B1D56C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 flipV="1">
            <a:off x="2963034" y="3269039"/>
            <a:ext cx="1189491" cy="1601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F379731-3130-A56B-8E60-4FCA7B26F713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 flipV="1">
            <a:off x="2963034" y="3269039"/>
            <a:ext cx="1189491" cy="26618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Arrow: Down 55">
            <a:extLst>
              <a:ext uri="{FF2B5EF4-FFF2-40B4-BE49-F238E27FC236}">
                <a16:creationId xmlns:a16="http://schemas.microsoft.com/office/drawing/2014/main" id="{541E3FEE-A3DB-2FBF-BDB9-1C8755C2D836}"/>
              </a:ext>
            </a:extLst>
          </p:cNvPr>
          <p:cNvSpPr/>
          <p:nvPr/>
        </p:nvSpPr>
        <p:spPr>
          <a:xfrm>
            <a:off x="5399231" y="4969064"/>
            <a:ext cx="417764" cy="464942"/>
          </a:xfrm>
          <a:prstGeom prst="down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600F0684-AE75-78A4-BB74-EB66446F2334}"/>
              </a:ext>
            </a:extLst>
          </p:cNvPr>
          <p:cNvSpPr/>
          <p:nvPr/>
        </p:nvSpPr>
        <p:spPr>
          <a:xfrm rot="10800000">
            <a:off x="6491830" y="4921742"/>
            <a:ext cx="417764" cy="501657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5AED932-824B-6FA2-E32E-684E0EB78B0A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8251371" y="1944141"/>
            <a:ext cx="1136274" cy="13248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A412DBD-5AAD-F6E6-0ABA-8FCDCA61727D}"/>
              </a:ext>
            </a:extLst>
          </p:cNvPr>
          <p:cNvCxnSpPr>
            <a:cxnSpLocks/>
            <a:stCxn id="7" idx="3"/>
            <a:endCxn id="37" idx="1"/>
          </p:cNvCxnSpPr>
          <p:nvPr/>
        </p:nvCxnSpPr>
        <p:spPr>
          <a:xfrm flipV="1">
            <a:off x="8251371" y="3061641"/>
            <a:ext cx="1136274" cy="2073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BDC1F31-5E79-F37F-6928-9A86C761CB9A}"/>
              </a:ext>
            </a:extLst>
          </p:cNvPr>
          <p:cNvCxnSpPr>
            <a:cxnSpLocks/>
            <a:stCxn id="7" idx="3"/>
            <a:endCxn id="40" idx="1"/>
          </p:cNvCxnSpPr>
          <p:nvPr/>
        </p:nvCxnSpPr>
        <p:spPr>
          <a:xfrm>
            <a:off x="8251371" y="3269039"/>
            <a:ext cx="1136274" cy="10466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F21E429-1E39-48AA-5693-631CFF8039A4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>
            <a:off x="8251371" y="3269039"/>
            <a:ext cx="1136274" cy="21649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Picture 107">
            <a:extLst>
              <a:ext uri="{FF2B5EF4-FFF2-40B4-BE49-F238E27FC236}">
                <a16:creationId xmlns:a16="http://schemas.microsoft.com/office/drawing/2014/main" id="{9B8D9BC5-661E-1843-205D-741479569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229" y="5693888"/>
            <a:ext cx="1544713" cy="65690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F4F8B777-27B2-BB87-76C7-036044678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8856" y="4306498"/>
            <a:ext cx="1213754" cy="58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D515-171C-3EBD-6CDE-52FDE493F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D5A87-4481-262C-31CA-34CBBA264F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695AAF-4765-A1FA-9FF7-D3DE4BF9CAD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736458" y="1446802"/>
            <a:ext cx="2463942" cy="3188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113E58-8F9B-92CF-7157-F84AEA1DF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82" y="2568878"/>
            <a:ext cx="2331574" cy="30243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7B2C2D-2A24-626B-397B-1EFEFD1CE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185" y="3429000"/>
            <a:ext cx="2463942" cy="3192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880A0B-1E9D-42F9-B90D-E104962C5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900" y="1446802"/>
            <a:ext cx="2463943" cy="31975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683D11-EEB7-BB87-37AA-B57C35727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674" y="2568878"/>
            <a:ext cx="2463942" cy="31960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0B70B0-A889-3F24-D2CB-4C5D34570F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645" y="3514754"/>
            <a:ext cx="2331574" cy="30209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266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B54F-4A4E-C4A8-DA44-DC75FC2A8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3CDA5-EF86-D007-BE0A-6CCF7AF22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6412F-7F2F-C82F-1071-4DAB745BE3C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CA" dirty="0"/>
              <a:t>Injectors</a:t>
            </a:r>
          </a:p>
          <a:p>
            <a:r>
              <a:rPr lang="en-CA" dirty="0"/>
              <a:t>Flowbacks</a:t>
            </a:r>
          </a:p>
          <a:p>
            <a:r>
              <a:rPr lang="en-CA" dirty="0"/>
              <a:t>Public Sales vs Company Sales </a:t>
            </a:r>
          </a:p>
          <a:p>
            <a:r>
              <a:rPr lang="en-CA" dirty="0"/>
              <a:t>Adding NGL Forecasts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cific Canbriam">
      <a:dk1>
        <a:srgbClr val="00215B"/>
      </a:dk1>
      <a:lt1>
        <a:sysClr val="window" lastClr="FFFFFF"/>
      </a:lt1>
      <a:dk2>
        <a:srgbClr val="00215B"/>
      </a:dk2>
      <a:lt2>
        <a:srgbClr val="EEF5FA"/>
      </a:lt2>
      <a:accent1>
        <a:srgbClr val="0B4789"/>
      </a:accent1>
      <a:accent2>
        <a:srgbClr val="558EC4"/>
      </a:accent2>
      <a:accent3>
        <a:srgbClr val="C5E7FA"/>
      </a:accent3>
      <a:accent4>
        <a:srgbClr val="6BBE4A"/>
      </a:accent4>
      <a:accent5>
        <a:srgbClr val="007934"/>
      </a:accent5>
      <a:accent6>
        <a:srgbClr val="F5E753"/>
      </a:accent6>
      <a:hlink>
        <a:srgbClr val="558EC4"/>
      </a:hlink>
      <a:folHlink>
        <a:srgbClr val="007934"/>
      </a:folHlink>
    </a:clrScheme>
    <a:fontScheme name="Pacific Canbriam">
      <a:majorFont>
        <a:latin typeface="outfit"/>
        <a:ea typeface=""/>
        <a:cs typeface=""/>
      </a:majorFont>
      <a:minorFont>
        <a:latin typeface="outfi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 Pacific-Canbriam-Presentation-Template" id="{1F0F1A45-B955-4CFF-994F-FBB4A7950CD3}" vid="{0D257119-4161-4060-9EE4-E3C18EF258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7D001722F3C845A1C9E901581F47ED" ma:contentTypeVersion="11" ma:contentTypeDescription="Create a new document." ma:contentTypeScope="" ma:versionID="e85f218a6bc5231b605cf0175d8a78ff">
  <xsd:schema xmlns:xsd="http://www.w3.org/2001/XMLSchema" xmlns:xs="http://www.w3.org/2001/XMLSchema" xmlns:p="http://schemas.microsoft.com/office/2006/metadata/properties" xmlns:ns2="31a1aaca-c7e6-4d8b-87dd-0bd7015df218" xmlns:ns3="69b0ceea-d67c-4398-bd77-0e840827e80f" targetNamespace="http://schemas.microsoft.com/office/2006/metadata/properties" ma:root="true" ma:fieldsID="350a051f5580f0b94822751616750235" ns2:_="" ns3:_="">
    <xsd:import namespace="31a1aaca-c7e6-4d8b-87dd-0bd7015df218"/>
    <xsd:import namespace="69b0ceea-d67c-4398-bd77-0e840827e80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1aaca-c7e6-4d8b-87dd-0bd7015df21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c1ee85b-bb7d-4bfa-bf05-6f4e1f65de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0ceea-d67c-4398-bd77-0e840827e80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9967451-7146-4a0e-a0eb-1ded2293b191}" ma:internalName="TaxCatchAll" ma:showField="CatchAllData" ma:web="69b0ceea-d67c-4398-bd77-0e840827e8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9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9b0ceea-d67c-4398-bd77-0e840827e80f" xsi:nil="true"/>
    <lcf76f155ced4ddcb4097134ff3c332f xmlns="31a1aaca-c7e6-4d8b-87dd-0bd7015df218">
      <Terms xmlns="http://schemas.microsoft.com/office/infopath/2007/PartnerControls"/>
    </lcf76f155ced4ddcb4097134ff3c332f>
    <_dlc_DocId xmlns="69b0ceea-d67c-4398-bd77-0e840827e80f">PCEDOC-1884790769-109</_dlc_DocId>
    <_dlc_DocIdUrl xmlns="69b0ceea-d67c-4398-bd77-0e840827e80f">
      <Url>https://pacificcanbriamenergy.sharepoint.com/_layouts/15/DocIdRedir.aspx?ID=PCEDOC-1884790769-109</Url>
      <Description>PCEDOC-1884790769-109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titus xmlns="http://schemas.titus.com/TitusProperties/">
  <TitusGUID xmlns="">392557cb-87e1-4487-8fa9-9cd7cc971f6b</TitusGUID>
  <TitusMetadata xmlns="">eyJucyI6Imh0dHA6XC9cL3d3dy50aXR1cy5jb21cL25zXC9SR0UiLCJwcm9wcyI6W3sibiI6IlJHRUNMQVNTSUZJQ0FUSU9OIiwidmFscyI6W3sidmFsdWUiOiJQdWJsaWMifV19LHsibiI6Ik9SSUdDTEFTU0lGSUVSIiwidmFscyI6W3sidmFsdWUiOiJtbWF0cmFja2kifV19XX0=</TitusMetadata>
</titu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DD373D-F6C5-4CD6-882F-826DBD88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a1aaca-c7e6-4d8b-87dd-0bd7015df218"/>
    <ds:schemaRef ds:uri="69b0ceea-d67c-4398-bd77-0e840827e8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EC0ADC-AD8E-44BA-9718-D9ABD05E66D4}">
  <ds:schemaRefs>
    <ds:schemaRef ds:uri="http://schemas.microsoft.com/office/infopath/2007/PartnerControls"/>
    <ds:schemaRef ds:uri="31a1aaca-c7e6-4d8b-87dd-0bd7015df218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69b0ceea-d67c-4398-bd77-0e840827e80f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DE115C5-F621-4D6C-AC68-D4DEF76B89D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70AD8E6-F0ED-41C3-A61B-BF0D3ED5268B}">
  <ds:schemaRefs>
    <ds:schemaRef ds:uri="http://schemas.titus.com/TitusProperties/"/>
    <ds:schemaRef ds:uri=""/>
  </ds:schemaRefs>
</ds:datastoreItem>
</file>

<file path=customXml/itemProps5.xml><?xml version="1.0" encoding="utf-8"?>
<ds:datastoreItem xmlns:ds="http://schemas.openxmlformats.org/officeDocument/2006/customXml" ds:itemID="{999444B4-655B-43C3-805D-C04454BB97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PCE - Presentation Template</Template>
  <TotalTime>15303</TotalTime>
  <Words>189</Words>
  <Application>Microsoft Office PowerPoint</Application>
  <PresentationFormat>Widescreen</PresentationFormat>
  <Paragraphs>52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Arial</vt:lpstr>
      <vt:lpstr>Outfit</vt:lpstr>
      <vt:lpstr>Outfit</vt:lpstr>
      <vt:lpstr>Office Theme</vt:lpstr>
      <vt:lpstr>Reservoir Production Integration System PCE_RE_Production_Update V2.9</vt:lpstr>
      <vt:lpstr>What Production was at PCE</vt:lpstr>
      <vt:lpstr>PCE Production Block Diagram</vt:lpstr>
      <vt:lpstr>Documentation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Matracki</dc:creator>
  <cp:keywords>Public</cp:keywords>
  <cp:lastModifiedBy>Ifeanyi Ayadiuno</cp:lastModifiedBy>
  <cp:revision>87</cp:revision>
  <cp:lastPrinted>2026-05-21T14:04:16Z</cp:lastPrinted>
  <dcterms:created xsi:type="dcterms:W3CDTF">2025-05-20T17:04:19Z</dcterms:created>
  <dcterms:modified xsi:type="dcterms:W3CDTF">2026-06-30T20:58:39Z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b923d7b1-fa97-42c8-b195-c14a1034eb71</vt:lpwstr>
  </property>
  <property fmtid="{D5CDD505-2E9C-101B-9397-08002B2CF9AE}" pid="3" name="RGECLASSIFICATION">
    <vt:lpwstr>Public</vt:lpwstr>
  </property>
  <property fmtid="{D5CDD505-2E9C-101B-9397-08002B2CF9AE}" pid="4" name="ORIGCLASSIFIER">
    <vt:lpwstr>mmatracki</vt:lpwstr>
  </property>
  <property fmtid="{D5CDD505-2E9C-101B-9397-08002B2CF9AE}" pid="5" name="RGERule">
    <vt:lpwstr/>
  </property>
  <property fmtid="{D5CDD505-2E9C-101B-9397-08002B2CF9AE}" pid="6" name="MSIP_Label_1e6371a2-0653-43c6-96b2-5bebb65450f3_Enabled">
    <vt:lpwstr>true</vt:lpwstr>
  </property>
  <property fmtid="{D5CDD505-2E9C-101B-9397-08002B2CF9AE}" pid="7" name="MSIP_Label_1e6371a2-0653-43c6-96b2-5bebb65450f3_SetDate">
    <vt:lpwstr>2025-02-20T14:24:00Z</vt:lpwstr>
  </property>
  <property fmtid="{D5CDD505-2E9C-101B-9397-08002B2CF9AE}" pid="8" name="MSIP_Label_1e6371a2-0653-43c6-96b2-5bebb65450f3_Method">
    <vt:lpwstr>Standard</vt:lpwstr>
  </property>
  <property fmtid="{D5CDD505-2E9C-101B-9397-08002B2CF9AE}" pid="9" name="MSIP_Label_1e6371a2-0653-43c6-96b2-5bebb65450f3_Name">
    <vt:lpwstr>Internal - No Visual Label</vt:lpwstr>
  </property>
  <property fmtid="{D5CDD505-2E9C-101B-9397-08002B2CF9AE}" pid="10" name="MSIP_Label_1e6371a2-0653-43c6-96b2-5bebb65450f3_SiteId">
    <vt:lpwstr>f1f1b6d3-b3f9-48ff-898f-66cba53ae781</vt:lpwstr>
  </property>
  <property fmtid="{D5CDD505-2E9C-101B-9397-08002B2CF9AE}" pid="11" name="MSIP_Label_1e6371a2-0653-43c6-96b2-5bebb65450f3_ActionId">
    <vt:lpwstr>718c06f3-8021-4e32-9f8d-5d4f360abc1a</vt:lpwstr>
  </property>
  <property fmtid="{D5CDD505-2E9C-101B-9397-08002B2CF9AE}" pid="12" name="MSIP_Label_1e6371a2-0653-43c6-96b2-5bebb65450f3_ContentBits">
    <vt:lpwstr>0</vt:lpwstr>
  </property>
  <property fmtid="{D5CDD505-2E9C-101B-9397-08002B2CF9AE}" pid="13" name="MSIP_Label_1e6371a2-0653-43c6-96b2-5bebb65450f3_Tag">
    <vt:lpwstr>10, 3, 0, 1</vt:lpwstr>
  </property>
  <property fmtid="{D5CDD505-2E9C-101B-9397-08002B2CF9AE}" pid="14" name="ContentTypeId">
    <vt:lpwstr>0x0101009B7D001722F3C845A1C9E901581F47ED</vt:lpwstr>
  </property>
  <property fmtid="{D5CDD505-2E9C-101B-9397-08002B2CF9AE}" pid="15" name="_dlc_DocIdItemGuid">
    <vt:lpwstr>b4a83d01-01f1-4cf0-8b79-d4b6ae56c6c7</vt:lpwstr>
  </property>
  <property fmtid="{D5CDD505-2E9C-101B-9397-08002B2CF9AE}" pid="16" name="MediaServiceImageTags">
    <vt:lpwstr/>
  </property>
</Properties>
</file>